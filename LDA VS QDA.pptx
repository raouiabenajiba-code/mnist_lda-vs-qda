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lice" panose="020B0604020202020204" charset="0"/>
      <p:regular r:id="rId21"/>
    </p:embeddedFont>
    <p:embeddedFont>
      <p:font typeface="Alice Bold" panose="020B0604020202020204" charset="0"/>
      <p:regular r:id="rId22"/>
    </p:embeddedFont>
    <p:embeddedFont>
      <p:font typeface="Amiri" panose="020B0604020202020204" charset="-78"/>
      <p:regular r:id="rId23"/>
    </p:embeddedFont>
    <p:embeddedFont>
      <p:font typeface="Belleza" panose="020B0604020202020204" charset="0"/>
      <p:regular r:id="rId24"/>
    </p:embeddedFont>
    <p:embeddedFont>
      <p:font typeface="Bicubik" panose="02000503020000020004" charset="0"/>
      <p:regular r:id="rId25"/>
    </p:embeddedFont>
    <p:embeddedFont>
      <p:font typeface="Bugaki" panose="020B0604020202020204" charset="0"/>
      <p:regular r:id="rId26"/>
    </p:embeddedFont>
    <p:embeddedFont>
      <p:font typeface="Telegraf" panose="020B0604020202020204" charset="0"/>
      <p:regular r:id="rId27"/>
    </p:embeddedFont>
    <p:embeddedFont>
      <p:font typeface="Telegraf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80319" y="5893785"/>
            <a:ext cx="6727361" cy="1833048"/>
            <a:chOff x="0" y="0"/>
            <a:chExt cx="3418488" cy="931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18488" cy="931457"/>
            </a:xfrm>
            <a:custGeom>
              <a:avLst/>
              <a:gdLst/>
              <a:ahLst/>
              <a:cxnLst/>
              <a:rect l="l" t="t" r="r" b="b"/>
              <a:pathLst>
                <a:path w="3418488" h="931457">
                  <a:moveTo>
                    <a:pt x="325846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71437"/>
                  </a:lnTo>
                  <a:lnTo>
                    <a:pt x="160020" y="931457"/>
                  </a:lnTo>
                  <a:lnTo>
                    <a:pt x="3258468" y="931457"/>
                  </a:lnTo>
                  <a:lnTo>
                    <a:pt x="3418488" y="771437"/>
                  </a:lnTo>
                  <a:lnTo>
                    <a:pt x="3418488" y="160020"/>
                  </a:lnTo>
                  <a:lnTo>
                    <a:pt x="3258468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82550"/>
              <a:ext cx="3291488" cy="785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158048" y="5143500"/>
            <a:ext cx="6129952" cy="3333617"/>
          </a:xfrm>
          <a:custGeom>
            <a:avLst/>
            <a:gdLst/>
            <a:ahLst/>
            <a:cxnLst/>
            <a:rect l="l" t="t" r="r" b="b"/>
            <a:pathLst>
              <a:path w="6129952" h="3333617">
                <a:moveTo>
                  <a:pt x="0" y="0"/>
                </a:moveTo>
                <a:lnTo>
                  <a:pt x="6129952" y="0"/>
                </a:lnTo>
                <a:lnTo>
                  <a:pt x="6129952" y="3333617"/>
                </a:lnTo>
                <a:lnTo>
                  <a:pt x="0" y="3333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853" t="-46035" b="-10083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rot="5400000" flipH="1">
            <a:off x="-718935" y="2278826"/>
            <a:ext cx="3695213" cy="9424560"/>
          </a:xfrm>
          <a:custGeom>
            <a:avLst/>
            <a:gdLst/>
            <a:ahLst/>
            <a:cxnLst/>
            <a:rect l="l" t="t" r="r" b="b"/>
            <a:pathLst>
              <a:path w="3695213" h="9424560">
                <a:moveTo>
                  <a:pt x="3695213" y="0"/>
                </a:moveTo>
                <a:lnTo>
                  <a:pt x="0" y="0"/>
                </a:lnTo>
                <a:lnTo>
                  <a:pt x="0" y="9424560"/>
                </a:lnTo>
                <a:lnTo>
                  <a:pt x="3695213" y="9424560"/>
                </a:lnTo>
                <a:lnTo>
                  <a:pt x="369521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2529487" y="2821471"/>
            <a:ext cx="5960440" cy="1271675"/>
            <a:chOff x="0" y="0"/>
            <a:chExt cx="1226428" cy="2616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6428" cy="261662"/>
            </a:xfrm>
            <a:custGeom>
              <a:avLst/>
              <a:gdLst/>
              <a:ahLst/>
              <a:cxnLst/>
              <a:rect l="l" t="t" r="r" b="b"/>
              <a:pathLst>
                <a:path w="1226428" h="261662">
                  <a:moveTo>
                    <a:pt x="0" y="0"/>
                  </a:moveTo>
                  <a:lnTo>
                    <a:pt x="1226428" y="0"/>
                  </a:lnTo>
                  <a:lnTo>
                    <a:pt x="1226428" y="261662"/>
                  </a:lnTo>
                  <a:lnTo>
                    <a:pt x="0" y="261662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226428" cy="31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01927" y="2821471"/>
            <a:ext cx="5960440" cy="1271675"/>
            <a:chOff x="0" y="0"/>
            <a:chExt cx="1226428" cy="2616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6428" cy="261662"/>
            </a:xfrm>
            <a:custGeom>
              <a:avLst/>
              <a:gdLst/>
              <a:ahLst/>
              <a:cxnLst/>
              <a:rect l="l" t="t" r="r" b="b"/>
              <a:pathLst>
                <a:path w="1226428" h="261662">
                  <a:moveTo>
                    <a:pt x="0" y="0"/>
                  </a:moveTo>
                  <a:lnTo>
                    <a:pt x="1226428" y="0"/>
                  </a:lnTo>
                  <a:lnTo>
                    <a:pt x="1226428" y="261662"/>
                  </a:lnTo>
                  <a:lnTo>
                    <a:pt x="0" y="261662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226428" cy="318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 flipV="1">
            <a:off x="15859520" y="8652577"/>
            <a:ext cx="1399780" cy="605723"/>
          </a:xfrm>
          <a:custGeom>
            <a:avLst/>
            <a:gdLst/>
            <a:ahLst/>
            <a:cxnLst/>
            <a:rect l="l" t="t" r="r" b="b"/>
            <a:pathLst>
              <a:path w="1399780" h="605723">
                <a:moveTo>
                  <a:pt x="1399780" y="605723"/>
                </a:moveTo>
                <a:lnTo>
                  <a:pt x="0" y="605723"/>
                </a:lnTo>
                <a:lnTo>
                  <a:pt x="0" y="0"/>
                </a:lnTo>
                <a:lnTo>
                  <a:pt x="1399780" y="0"/>
                </a:lnTo>
                <a:lnTo>
                  <a:pt x="1399780" y="6057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028700" y="2846242"/>
            <a:ext cx="6954339" cy="147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46"/>
              </a:lnSpc>
            </a:pPr>
            <a:r>
              <a:rPr lang="en-US" sz="10946">
                <a:solidFill>
                  <a:srgbClr val="38B6FF"/>
                </a:solidFill>
                <a:latin typeface="Bicubik"/>
                <a:ea typeface="Bicubik"/>
                <a:cs typeface="Bicubik"/>
                <a:sym typeface="Bicubik"/>
              </a:rPr>
              <a:t>LDA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57658" y="3168371"/>
            <a:ext cx="1772683" cy="73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2"/>
              </a:lnSpc>
            </a:pPr>
            <a:r>
              <a:rPr lang="en-US" sz="5402">
                <a:solidFill>
                  <a:srgbClr val="38B6FF"/>
                </a:solidFill>
                <a:latin typeface="Bicubik"/>
                <a:ea typeface="Bicubik"/>
                <a:cs typeface="Bicubik"/>
                <a:sym typeface="Bicubik"/>
              </a:rPr>
              <a:t>vs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56085" y="2846242"/>
            <a:ext cx="8303215" cy="147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46"/>
              </a:lnSpc>
            </a:pPr>
            <a:r>
              <a:rPr lang="en-US" sz="10946">
                <a:solidFill>
                  <a:srgbClr val="38B6FF"/>
                </a:solidFill>
                <a:latin typeface="Bicubik"/>
                <a:ea typeface="Bicubik"/>
                <a:cs typeface="Bicubik"/>
                <a:sym typeface="Bicubik"/>
              </a:rPr>
              <a:t>QDA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39692" y="1098576"/>
            <a:ext cx="10032786" cy="95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4"/>
              </a:lnSpc>
              <a:spcBef>
                <a:spcPct val="0"/>
              </a:spcBef>
            </a:pPr>
            <a:r>
              <a:rPr lang="en-US" sz="5260" spc="-210">
                <a:solidFill>
                  <a:srgbClr val="505050"/>
                </a:solidFill>
                <a:latin typeface="Telegraf"/>
                <a:ea typeface="Telegraf"/>
                <a:cs typeface="Telegraf"/>
                <a:sym typeface="Telegraf"/>
              </a:rPr>
              <a:t>MACHINE LEARNING SERIES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95983" y="6531406"/>
            <a:ext cx="6496033" cy="63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0"/>
              </a:lnSpc>
            </a:pPr>
            <a:r>
              <a:rPr lang="en-US" sz="4710">
                <a:solidFill>
                  <a:srgbClr val="38B6FF"/>
                </a:solidFill>
                <a:latin typeface="Belleza"/>
                <a:ea typeface="Belleza"/>
                <a:cs typeface="Belleza"/>
                <a:sym typeface="Belleza"/>
              </a:rPr>
              <a:t>Analyse Discriminante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67055" y="8698658"/>
            <a:ext cx="6153891" cy="456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8"/>
              </a:lnSpc>
              <a:spcBef>
                <a:spcPct val="0"/>
              </a:spcBef>
            </a:pPr>
            <a:r>
              <a:rPr lang="en-US" sz="2656" spc="-106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Optimisation de la Classification Statistique</a:t>
            </a:r>
          </a:p>
        </p:txBody>
      </p:sp>
      <p:sp>
        <p:nvSpPr>
          <p:cNvPr id="20" name="Freeform 20"/>
          <p:cNvSpPr/>
          <p:nvPr/>
        </p:nvSpPr>
        <p:spPr>
          <a:xfrm flipV="1">
            <a:off x="1028700" y="8652577"/>
            <a:ext cx="1399780" cy="605723"/>
          </a:xfrm>
          <a:custGeom>
            <a:avLst/>
            <a:gdLst/>
            <a:ahLst/>
            <a:cxnLst/>
            <a:rect l="l" t="t" r="r" b="b"/>
            <a:pathLst>
              <a:path w="1399780" h="605723">
                <a:moveTo>
                  <a:pt x="0" y="605723"/>
                </a:moveTo>
                <a:lnTo>
                  <a:pt x="1399780" y="605723"/>
                </a:lnTo>
                <a:lnTo>
                  <a:pt x="1399780" y="0"/>
                </a:lnTo>
                <a:lnTo>
                  <a:pt x="0" y="0"/>
                </a:lnTo>
                <a:lnTo>
                  <a:pt x="0" y="6057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5957" y="4111626"/>
            <a:ext cx="2867874" cy="3452835"/>
            <a:chOff x="0" y="0"/>
            <a:chExt cx="590098" cy="710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0098" cy="710460"/>
            </a:xfrm>
            <a:custGeom>
              <a:avLst/>
              <a:gdLst/>
              <a:ahLst/>
              <a:cxnLst/>
              <a:rect l="l" t="t" r="r" b="b"/>
              <a:pathLst>
                <a:path w="590098" h="710460">
                  <a:moveTo>
                    <a:pt x="0" y="0"/>
                  </a:moveTo>
                  <a:lnTo>
                    <a:pt x="590098" y="0"/>
                  </a:lnTo>
                  <a:lnTo>
                    <a:pt x="590098" y="710460"/>
                  </a:lnTo>
                  <a:lnTo>
                    <a:pt x="0" y="710460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90098" cy="76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479922" y="3723641"/>
            <a:ext cx="5640758" cy="4288757"/>
          </a:xfrm>
          <a:custGeom>
            <a:avLst/>
            <a:gdLst/>
            <a:ahLst/>
            <a:cxnLst/>
            <a:rect l="l" t="t" r="r" b="b"/>
            <a:pathLst>
              <a:path w="5640758" h="4288757">
                <a:moveTo>
                  <a:pt x="0" y="0"/>
                </a:moveTo>
                <a:lnTo>
                  <a:pt x="5640758" y="0"/>
                </a:lnTo>
                <a:lnTo>
                  <a:pt x="5640758" y="4288757"/>
                </a:lnTo>
                <a:lnTo>
                  <a:pt x="0" y="4288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028700" y="1171575"/>
            <a:ext cx="8983682" cy="182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7099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INTRODUCTION AU MACHINE LEARNING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2368" y="4301157"/>
            <a:ext cx="10729984" cy="313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La classification est une tâche fondamentale consistant à prédire la </a:t>
            </a:r>
            <a:r>
              <a:rPr lang="en-US" sz="2999" spc="-89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catégorie </a:t>
            </a: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d'une observation à partir de ses caractéristiques.</a:t>
            </a:r>
          </a:p>
          <a:p>
            <a:pPr algn="l">
              <a:lnSpc>
                <a:spcPts val="3599"/>
              </a:lnSpc>
            </a:pPr>
            <a:endParaRPr lang="en-US" sz="2999" spc="-89">
              <a:solidFill>
                <a:srgbClr val="EFF3F6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L'Analyse Discriminante (LDA &amp; QDA) est une approche statistique probabiliste qui repose sur la règle de </a:t>
            </a:r>
            <a:r>
              <a:rPr lang="en-US" sz="2999" spc="-89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Bayes</a:t>
            </a: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 Elle cherche à modéliser la distribution des données pour chaque classe afin de trouver la frontière de décision optimale.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67137" y="4129316"/>
            <a:ext cx="3859053" cy="996500"/>
            <a:chOff x="0" y="0"/>
            <a:chExt cx="794044" cy="2050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4044" cy="205041"/>
            </a:xfrm>
            <a:custGeom>
              <a:avLst/>
              <a:gdLst/>
              <a:ahLst/>
              <a:cxnLst/>
              <a:rect l="l" t="t" r="r" b="b"/>
              <a:pathLst>
                <a:path w="794044" h="205041">
                  <a:moveTo>
                    <a:pt x="0" y="0"/>
                  </a:moveTo>
                  <a:lnTo>
                    <a:pt x="794044" y="0"/>
                  </a:lnTo>
                  <a:lnTo>
                    <a:pt x="794044" y="205041"/>
                  </a:lnTo>
                  <a:lnTo>
                    <a:pt x="0" y="205041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94044" cy="262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3318" y="1028700"/>
            <a:ext cx="8083819" cy="8083819"/>
          </a:xfrm>
          <a:custGeom>
            <a:avLst/>
            <a:gdLst/>
            <a:ahLst/>
            <a:cxnLst/>
            <a:rect l="l" t="t" r="r" b="b"/>
            <a:pathLst>
              <a:path w="8083819" h="8083819">
                <a:moveTo>
                  <a:pt x="0" y="0"/>
                </a:moveTo>
                <a:lnTo>
                  <a:pt x="8083819" y="0"/>
                </a:lnTo>
                <a:lnTo>
                  <a:pt x="8083819" y="8083819"/>
                </a:lnTo>
                <a:lnTo>
                  <a:pt x="0" y="8083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0506254" y="5357183"/>
            <a:ext cx="4714983" cy="628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spc="-135">
                <a:solidFill>
                  <a:srgbClr val="505050"/>
                </a:solidFill>
                <a:latin typeface="Telegraf Bold"/>
                <a:ea typeface="Telegraf Bold"/>
                <a:cs typeface="Telegraf Bold"/>
                <a:sym typeface="Telegraf Bold"/>
              </a:rPr>
              <a:t>L'Essence du Problème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06254" y="1864800"/>
            <a:ext cx="8219473" cy="182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7099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CONTEXTE ET PROBLÉMATIQUE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792603" y="6330865"/>
            <a:ext cx="8166030" cy="3956135"/>
            <a:chOff x="0" y="0"/>
            <a:chExt cx="3758837" cy="18210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58837" cy="1821015"/>
            </a:xfrm>
            <a:custGeom>
              <a:avLst/>
              <a:gdLst/>
              <a:ahLst/>
              <a:cxnLst/>
              <a:rect l="l" t="t" r="r" b="b"/>
              <a:pathLst>
                <a:path w="3758837" h="1821015">
                  <a:moveTo>
                    <a:pt x="359881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60995"/>
                  </a:lnTo>
                  <a:lnTo>
                    <a:pt x="160020" y="1821015"/>
                  </a:lnTo>
                  <a:lnTo>
                    <a:pt x="3598817" y="1821015"/>
                  </a:lnTo>
                  <a:lnTo>
                    <a:pt x="3758837" y="1660995"/>
                  </a:lnTo>
                  <a:lnTo>
                    <a:pt x="3758837" y="160020"/>
                  </a:lnTo>
                  <a:lnTo>
                    <a:pt x="3598817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82550"/>
              <a:ext cx="3631837" cy="1674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024310" y="6563026"/>
            <a:ext cx="7702616" cy="3482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0"/>
              </a:lnSpc>
            </a:pPr>
            <a:r>
              <a:rPr lang="en-US" sz="2908" spc="-87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En classification, le défi est de trouver la </a:t>
            </a:r>
            <a:r>
              <a:rPr lang="en-US" sz="2908" spc="-87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frontière optimale </a:t>
            </a:r>
            <a:r>
              <a:rPr lang="en-US" sz="2908" spc="-87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qui sépare les groupes tout  en minimisant l'erreur de généralisation.</a:t>
            </a:r>
          </a:p>
          <a:p>
            <a:pPr algn="l">
              <a:lnSpc>
                <a:spcPts val="3490"/>
              </a:lnSpc>
            </a:pPr>
            <a:r>
              <a:rPr lang="en-US" sz="2908" spc="-87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L'Analyse Discriminante offre deux approches :</a:t>
            </a:r>
          </a:p>
          <a:p>
            <a:pPr marL="628045" lvl="1" indent="-314023" algn="l">
              <a:lnSpc>
                <a:spcPts val="3490"/>
              </a:lnSpc>
              <a:buFont typeface="Arial"/>
              <a:buChar char="•"/>
            </a:pPr>
            <a:r>
              <a:rPr lang="en-US" sz="2908" spc="-87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LDA  </a:t>
            </a:r>
            <a:r>
              <a:rPr lang="en-US" sz="2908" spc="-87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:  Simplicité linéaire et robustesse statistique.</a:t>
            </a:r>
          </a:p>
          <a:p>
            <a:pPr marL="628045" lvl="1" indent="-314023" algn="l">
              <a:lnSpc>
                <a:spcPts val="3490"/>
              </a:lnSpc>
              <a:buFont typeface="Arial"/>
              <a:buChar char="•"/>
            </a:pPr>
            <a:r>
              <a:rPr lang="en-US" sz="2908" spc="-87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QDA  </a:t>
            </a:r>
            <a:r>
              <a:rPr lang="en-US" sz="2908" spc="-87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:  Flexibilité quadratique et adaptation aux courbes.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54435" y="3619500"/>
            <a:ext cx="1379127" cy="0"/>
          </a:xfrm>
          <a:prstGeom prst="line">
            <a:avLst/>
          </a:prstGeom>
          <a:ln w="95250" cap="flat">
            <a:solidFill>
              <a:srgbClr val="505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Box 3"/>
          <p:cNvSpPr txBox="1"/>
          <p:nvPr/>
        </p:nvSpPr>
        <p:spPr>
          <a:xfrm>
            <a:off x="5911539" y="6068934"/>
            <a:ext cx="6464918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Fondements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Statistiques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et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Hypothèses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38899" y="4209462"/>
            <a:ext cx="5410200" cy="1868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41"/>
              </a:lnSpc>
            </a:pPr>
            <a:r>
              <a:rPr lang="en-US" sz="7141" dirty="0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PARTIE  THÉORIQUE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1028700" y="8652577"/>
            <a:ext cx="1399780" cy="605723"/>
          </a:xfrm>
          <a:custGeom>
            <a:avLst/>
            <a:gdLst/>
            <a:ahLst/>
            <a:cxnLst/>
            <a:rect l="l" t="t" r="r" b="b"/>
            <a:pathLst>
              <a:path w="1399780" h="605723">
                <a:moveTo>
                  <a:pt x="0" y="605723"/>
                </a:moveTo>
                <a:lnTo>
                  <a:pt x="1399780" y="605723"/>
                </a:lnTo>
                <a:lnTo>
                  <a:pt x="1399780" y="0"/>
                </a:lnTo>
                <a:lnTo>
                  <a:pt x="0" y="0"/>
                </a:lnTo>
                <a:lnTo>
                  <a:pt x="0" y="6057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flipH="1" flipV="1">
            <a:off x="15859520" y="8652577"/>
            <a:ext cx="1399780" cy="605723"/>
          </a:xfrm>
          <a:custGeom>
            <a:avLst/>
            <a:gdLst/>
            <a:ahLst/>
            <a:cxnLst/>
            <a:rect l="l" t="t" r="r" b="b"/>
            <a:pathLst>
              <a:path w="1399780" h="605723">
                <a:moveTo>
                  <a:pt x="1399780" y="605723"/>
                </a:moveTo>
                <a:lnTo>
                  <a:pt x="0" y="605723"/>
                </a:lnTo>
                <a:lnTo>
                  <a:pt x="0" y="0"/>
                </a:lnTo>
                <a:lnTo>
                  <a:pt x="1399780" y="0"/>
                </a:lnTo>
                <a:lnTo>
                  <a:pt x="1399780" y="6057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47138" y="2976006"/>
            <a:ext cx="4193724" cy="4784419"/>
            <a:chOff x="0" y="0"/>
            <a:chExt cx="2366505" cy="2699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6505" cy="2699833"/>
            </a:xfrm>
            <a:custGeom>
              <a:avLst/>
              <a:gdLst/>
              <a:ahLst/>
              <a:cxnLst/>
              <a:rect l="l" t="t" r="r" b="b"/>
              <a:pathLst>
                <a:path w="2366505" h="2699833">
                  <a:moveTo>
                    <a:pt x="220648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539813"/>
                  </a:lnTo>
                  <a:lnTo>
                    <a:pt x="160020" y="2699833"/>
                  </a:lnTo>
                  <a:lnTo>
                    <a:pt x="2206485" y="2699833"/>
                  </a:lnTo>
                  <a:lnTo>
                    <a:pt x="2366505" y="2539813"/>
                  </a:lnTo>
                  <a:lnTo>
                    <a:pt x="2366505" y="160020"/>
                  </a:lnTo>
                  <a:lnTo>
                    <a:pt x="2206485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82550"/>
              <a:ext cx="2239505" cy="2553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6535943" y="3227346"/>
            <a:ext cx="5432228" cy="13831907"/>
            <a:chOff x="0" y="0"/>
            <a:chExt cx="1117742" cy="28460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17742" cy="2846071"/>
            </a:xfrm>
            <a:custGeom>
              <a:avLst/>
              <a:gdLst/>
              <a:ahLst/>
              <a:cxnLst/>
              <a:rect l="l" t="t" r="r" b="b"/>
              <a:pathLst>
                <a:path w="1117742" h="2846071">
                  <a:moveTo>
                    <a:pt x="0" y="0"/>
                  </a:moveTo>
                  <a:lnTo>
                    <a:pt x="1117742" y="0"/>
                  </a:lnTo>
                  <a:lnTo>
                    <a:pt x="1117742" y="2846071"/>
                  </a:lnTo>
                  <a:lnTo>
                    <a:pt x="0" y="2846071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17742" cy="2903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36103" y="2976006"/>
            <a:ext cx="4193724" cy="4784419"/>
            <a:chOff x="0" y="0"/>
            <a:chExt cx="2366505" cy="26998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6505" cy="2699833"/>
            </a:xfrm>
            <a:custGeom>
              <a:avLst/>
              <a:gdLst/>
              <a:ahLst/>
              <a:cxnLst/>
              <a:rect l="l" t="t" r="r" b="b"/>
              <a:pathLst>
                <a:path w="2366505" h="2699833">
                  <a:moveTo>
                    <a:pt x="220648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539813"/>
                  </a:lnTo>
                  <a:lnTo>
                    <a:pt x="160020" y="2699833"/>
                  </a:lnTo>
                  <a:lnTo>
                    <a:pt x="2206485" y="2699833"/>
                  </a:lnTo>
                  <a:lnTo>
                    <a:pt x="2366505" y="2539813"/>
                  </a:lnTo>
                  <a:lnTo>
                    <a:pt x="2366505" y="160020"/>
                  </a:lnTo>
                  <a:lnTo>
                    <a:pt x="2206485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82550"/>
              <a:ext cx="2239505" cy="2553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98087" y="2976006"/>
            <a:ext cx="4193724" cy="4784419"/>
            <a:chOff x="0" y="0"/>
            <a:chExt cx="2366505" cy="26998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66505" cy="2699833"/>
            </a:xfrm>
            <a:custGeom>
              <a:avLst/>
              <a:gdLst/>
              <a:ahLst/>
              <a:cxnLst/>
              <a:rect l="l" t="t" r="r" b="b"/>
              <a:pathLst>
                <a:path w="2366505" h="2699833">
                  <a:moveTo>
                    <a:pt x="220648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539813"/>
                  </a:lnTo>
                  <a:lnTo>
                    <a:pt x="160020" y="2699833"/>
                  </a:lnTo>
                  <a:lnTo>
                    <a:pt x="2206485" y="2699833"/>
                  </a:lnTo>
                  <a:lnTo>
                    <a:pt x="2366505" y="2539813"/>
                  </a:lnTo>
                  <a:lnTo>
                    <a:pt x="2366505" y="160020"/>
                  </a:lnTo>
                  <a:lnTo>
                    <a:pt x="2206485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00" y="82550"/>
              <a:ext cx="2239505" cy="2553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784965" y="3530843"/>
            <a:ext cx="637227" cy="637227"/>
          </a:xfrm>
          <a:custGeom>
            <a:avLst/>
            <a:gdLst/>
            <a:ahLst/>
            <a:cxnLst/>
            <a:rect l="l" t="t" r="r" b="b"/>
            <a:pathLst>
              <a:path w="637227" h="637227">
                <a:moveTo>
                  <a:pt x="0" y="0"/>
                </a:moveTo>
                <a:lnTo>
                  <a:pt x="637227" y="0"/>
                </a:lnTo>
                <a:lnTo>
                  <a:pt x="637227" y="637226"/>
                </a:lnTo>
                <a:lnTo>
                  <a:pt x="0" y="63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9167106" y="3530843"/>
            <a:ext cx="600120" cy="641066"/>
          </a:xfrm>
          <a:custGeom>
            <a:avLst/>
            <a:gdLst/>
            <a:ahLst/>
            <a:cxnLst/>
            <a:rect l="l" t="t" r="r" b="b"/>
            <a:pathLst>
              <a:path w="600120" h="641066">
                <a:moveTo>
                  <a:pt x="0" y="0"/>
                </a:moveTo>
                <a:lnTo>
                  <a:pt x="600120" y="0"/>
                </a:lnTo>
                <a:lnTo>
                  <a:pt x="600120" y="641066"/>
                </a:lnTo>
                <a:lnTo>
                  <a:pt x="0" y="641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098" t="-32217" r="-77775" b="-1894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1607517" y="1288330"/>
            <a:ext cx="10390191" cy="94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1"/>
              </a:lnSpc>
            </a:pPr>
            <a:r>
              <a:rPr lang="en-US" sz="7141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TYPOTHÈSES DE 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78631" y="4741136"/>
            <a:ext cx="3908668" cy="268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Homoscédasticité (LDA)</a:t>
            </a:r>
          </a:p>
          <a:p>
            <a:pPr algn="ctr">
              <a:lnSpc>
                <a:spcPts val="3599"/>
              </a:lnSpc>
            </a:pPr>
            <a:endParaRPr lang="en-US" sz="2999" spc="-89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LDA suppose que toutes les classes partagent la même matrice de covariance.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42828" y="4741136"/>
            <a:ext cx="4048556" cy="268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Distribution Gaussienne</a:t>
            </a:r>
          </a:p>
          <a:p>
            <a:pPr algn="ctr">
              <a:lnSpc>
                <a:spcPts val="3599"/>
              </a:lnSpc>
            </a:pPr>
            <a:endParaRPr lang="en-US" sz="2999" spc="-89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On suppose que les données de chaque classe suivent une loi normale </a:t>
            </a:r>
            <a:r>
              <a:rPr lang="en-US" sz="2999" spc="-89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(Gaussienne)</a:t>
            </a: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98087" y="4741136"/>
            <a:ext cx="4128864" cy="268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Hétéroscédasticité (QDA)</a:t>
            </a:r>
          </a:p>
          <a:p>
            <a:pPr algn="ctr">
              <a:lnSpc>
                <a:spcPts val="3599"/>
              </a:lnSpc>
            </a:pPr>
            <a:endParaRPr lang="en-US" sz="2999" spc="-89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QDA permet à chaque classe d'avoir sa propre matrice de covariance spécifique.</a:t>
            </a:r>
          </a:p>
        </p:txBody>
      </p:sp>
      <p:sp>
        <p:nvSpPr>
          <p:cNvPr id="20" name="Freeform 20"/>
          <p:cNvSpPr/>
          <p:nvPr/>
        </p:nvSpPr>
        <p:spPr>
          <a:xfrm>
            <a:off x="4110263" y="3679578"/>
            <a:ext cx="645404" cy="339757"/>
          </a:xfrm>
          <a:custGeom>
            <a:avLst/>
            <a:gdLst/>
            <a:ahLst/>
            <a:cxnLst/>
            <a:rect l="l" t="t" r="r" b="b"/>
            <a:pathLst>
              <a:path w="645404" h="339757">
                <a:moveTo>
                  <a:pt x="0" y="0"/>
                </a:moveTo>
                <a:lnTo>
                  <a:pt x="645404" y="0"/>
                </a:lnTo>
                <a:lnTo>
                  <a:pt x="645404" y="339756"/>
                </a:lnTo>
                <a:lnTo>
                  <a:pt x="0" y="339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5807" b="-44153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704854" y="3512401"/>
            <a:ext cx="4327358" cy="4764366"/>
            <a:chOff x="0" y="0"/>
            <a:chExt cx="890403" cy="9803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0403" cy="980322"/>
            </a:xfrm>
            <a:custGeom>
              <a:avLst/>
              <a:gdLst/>
              <a:ahLst/>
              <a:cxnLst/>
              <a:rect l="l" t="t" r="r" b="b"/>
              <a:pathLst>
                <a:path w="890403" h="980322">
                  <a:moveTo>
                    <a:pt x="0" y="0"/>
                  </a:moveTo>
                  <a:lnTo>
                    <a:pt x="890403" y="0"/>
                  </a:lnTo>
                  <a:lnTo>
                    <a:pt x="890403" y="980322"/>
                  </a:lnTo>
                  <a:lnTo>
                    <a:pt x="0" y="980322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90403" cy="103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29926" y="3478390"/>
            <a:ext cx="14402594" cy="4798378"/>
            <a:chOff x="0" y="0"/>
            <a:chExt cx="6629537" cy="22087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29537" cy="2208701"/>
            </a:xfrm>
            <a:custGeom>
              <a:avLst/>
              <a:gdLst/>
              <a:ahLst/>
              <a:cxnLst/>
              <a:rect l="l" t="t" r="r" b="b"/>
              <a:pathLst>
                <a:path w="6629537" h="2208701">
                  <a:moveTo>
                    <a:pt x="646951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048681"/>
                  </a:lnTo>
                  <a:lnTo>
                    <a:pt x="160020" y="2208701"/>
                  </a:lnTo>
                  <a:lnTo>
                    <a:pt x="6469517" y="2208701"/>
                  </a:lnTo>
                  <a:lnTo>
                    <a:pt x="6629537" y="2048681"/>
                  </a:lnTo>
                  <a:lnTo>
                    <a:pt x="6629537" y="160020"/>
                  </a:lnTo>
                  <a:lnTo>
                    <a:pt x="6469517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82550"/>
              <a:ext cx="6502537" cy="2062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727019" y="4820674"/>
            <a:ext cx="5880490" cy="1406501"/>
          </a:xfrm>
          <a:custGeom>
            <a:avLst/>
            <a:gdLst/>
            <a:ahLst/>
            <a:cxnLst/>
            <a:rect l="l" t="t" r="r" b="b"/>
            <a:pathLst>
              <a:path w="5880490" h="1406501">
                <a:moveTo>
                  <a:pt x="0" y="0"/>
                </a:moveTo>
                <a:lnTo>
                  <a:pt x="5880490" y="0"/>
                </a:lnTo>
                <a:lnTo>
                  <a:pt x="5880490" y="1406501"/>
                </a:lnTo>
                <a:lnTo>
                  <a:pt x="0" y="1406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936" t="-60752" r="-29377" b="-667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607517" y="1288330"/>
            <a:ext cx="10390191" cy="184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1"/>
              </a:lnSpc>
            </a:pPr>
            <a:r>
              <a:rPr lang="en-US" sz="7141" dirty="0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LE RÈGLE DE BAYES &amp; LOI NORMALE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25249" y="3925324"/>
            <a:ext cx="1321194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Le modèle suppose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que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les données de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chaque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classe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suivant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une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Distribution Normale </a:t>
            </a:r>
            <a:r>
              <a:rPr lang="en-US" sz="2999" spc="-89" dirty="0" err="1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Multivariée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 Notre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objectif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est de maximiser la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probabilité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a posteriori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25249" y="7017750"/>
            <a:ext cx="1280027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Principe </a:t>
            </a: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: Classer l'observation dans le groupe K ayant la plus haute probabilité.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64973" y="3851397"/>
            <a:ext cx="6383740" cy="4610616"/>
            <a:chOff x="0" y="0"/>
            <a:chExt cx="1313527" cy="948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3527" cy="948686"/>
            </a:xfrm>
            <a:custGeom>
              <a:avLst/>
              <a:gdLst/>
              <a:ahLst/>
              <a:cxnLst/>
              <a:rect l="l" t="t" r="r" b="b"/>
              <a:pathLst>
                <a:path w="1313527" h="948686">
                  <a:moveTo>
                    <a:pt x="0" y="0"/>
                  </a:moveTo>
                  <a:lnTo>
                    <a:pt x="1313527" y="0"/>
                  </a:lnTo>
                  <a:lnTo>
                    <a:pt x="1313527" y="948686"/>
                  </a:lnTo>
                  <a:lnTo>
                    <a:pt x="0" y="948686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13527" cy="10058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55489" y="3867797"/>
            <a:ext cx="10777022" cy="4594217"/>
            <a:chOff x="0" y="0"/>
            <a:chExt cx="4960681" cy="2114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60681" cy="2114725"/>
            </a:xfrm>
            <a:custGeom>
              <a:avLst/>
              <a:gdLst/>
              <a:ahLst/>
              <a:cxnLst/>
              <a:rect l="l" t="t" r="r" b="b"/>
              <a:pathLst>
                <a:path w="4960681" h="2114725">
                  <a:moveTo>
                    <a:pt x="4800661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954705"/>
                  </a:lnTo>
                  <a:lnTo>
                    <a:pt x="160020" y="2114725"/>
                  </a:lnTo>
                  <a:lnTo>
                    <a:pt x="4800661" y="2114725"/>
                  </a:lnTo>
                  <a:lnTo>
                    <a:pt x="4960681" y="1954705"/>
                  </a:lnTo>
                  <a:lnTo>
                    <a:pt x="4960681" y="160020"/>
                  </a:lnTo>
                  <a:lnTo>
                    <a:pt x="4800661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82550"/>
              <a:ext cx="4833681" cy="1968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934621" y="6391685"/>
            <a:ext cx="6418758" cy="973680"/>
          </a:xfrm>
          <a:custGeom>
            <a:avLst/>
            <a:gdLst/>
            <a:ahLst/>
            <a:cxnLst/>
            <a:rect l="l" t="t" r="r" b="b"/>
            <a:pathLst>
              <a:path w="6418758" h="973680">
                <a:moveTo>
                  <a:pt x="0" y="0"/>
                </a:moveTo>
                <a:lnTo>
                  <a:pt x="6418758" y="0"/>
                </a:lnTo>
                <a:lnTo>
                  <a:pt x="6418758" y="973679"/>
                </a:lnTo>
                <a:lnTo>
                  <a:pt x="0" y="973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8" t="-101032" r="-20093" b="-10942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376528" y="1538776"/>
            <a:ext cx="8660238" cy="184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7161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LDA : FRONTIÈRE DE DÉCISION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18767" y="4219575"/>
            <a:ext cx="9850465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3008" spc="-90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La Linéarité :</a:t>
            </a:r>
          </a:p>
          <a:p>
            <a:pPr algn="l">
              <a:lnSpc>
                <a:spcPts val="3610"/>
              </a:lnSpc>
            </a:pPr>
            <a:r>
              <a:rPr lang="en-US" sz="3008" spc="-9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En supposant que </a:t>
            </a:r>
            <a:r>
              <a:rPr lang="en-US" sz="3008" spc="-9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Σ₁ = Σ₂ = Σ (Covariances égales)</a:t>
            </a:r>
            <a:r>
              <a:rPr lang="en-US" sz="3008" spc="-9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, les termes quadratiques s'annulent mathématiquement.</a:t>
            </a:r>
          </a:p>
          <a:p>
            <a:pPr algn="l">
              <a:lnSpc>
                <a:spcPts val="3610"/>
              </a:lnSpc>
            </a:pPr>
            <a:r>
              <a:rPr lang="en-US" sz="3008" spc="-9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On obtient une fonction de score </a:t>
            </a:r>
            <a:r>
              <a:rPr lang="en-US" sz="3008" spc="-9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linéaire </a:t>
            </a:r>
            <a:r>
              <a:rPr lang="en-US" sz="3008" spc="-9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18767" y="7689214"/>
            <a:ext cx="89239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3008" spc="-9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Résultat </a:t>
            </a:r>
            <a:r>
              <a:rPr lang="en-US" sz="3008" spc="-9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: La séparation est une </a:t>
            </a:r>
            <a:r>
              <a:rPr lang="en-US" sz="3008" spc="-9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droite </a:t>
            </a:r>
            <a:r>
              <a:rPr lang="en-US" sz="3008" spc="-9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parfaite en 2D.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59190" y="1388149"/>
            <a:ext cx="13769619" cy="7510702"/>
          </a:xfrm>
          <a:custGeom>
            <a:avLst/>
            <a:gdLst/>
            <a:ahLst/>
            <a:cxnLst/>
            <a:rect l="l" t="t" r="r" b="b"/>
            <a:pathLst>
              <a:path w="13769619" h="7510702">
                <a:moveTo>
                  <a:pt x="0" y="0"/>
                </a:moveTo>
                <a:lnTo>
                  <a:pt x="13769620" y="0"/>
                </a:lnTo>
                <a:lnTo>
                  <a:pt x="13769620" y="7510702"/>
                </a:lnTo>
                <a:lnTo>
                  <a:pt x="0" y="751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528" y="1538776"/>
            <a:ext cx="9025460" cy="184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7161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ESTIMATION DES PARAMÉTRES ( MLE 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6528" y="4022700"/>
            <a:ext cx="13842037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Nous estimons les paramètres à partir des données d'entraînement via le </a:t>
            </a:r>
            <a:r>
              <a:rPr lang="en-US" sz="2999" spc="-89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Maximum de Vraisemblance 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807206" y="5677966"/>
            <a:ext cx="3787467" cy="3365563"/>
            <a:chOff x="0" y="0"/>
            <a:chExt cx="2137256" cy="18991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7256" cy="1899177"/>
            </a:xfrm>
            <a:custGeom>
              <a:avLst/>
              <a:gdLst/>
              <a:ahLst/>
              <a:cxnLst/>
              <a:rect l="l" t="t" r="r" b="b"/>
              <a:pathLst>
                <a:path w="2137256" h="1899177">
                  <a:moveTo>
                    <a:pt x="197723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739157"/>
                  </a:lnTo>
                  <a:lnTo>
                    <a:pt x="160020" y="1899177"/>
                  </a:lnTo>
                  <a:lnTo>
                    <a:pt x="1977236" y="1899177"/>
                  </a:lnTo>
                  <a:lnTo>
                    <a:pt x="2137256" y="1739157"/>
                  </a:lnTo>
                  <a:lnTo>
                    <a:pt x="2137256" y="160020"/>
                  </a:lnTo>
                  <a:lnTo>
                    <a:pt x="1977236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00" y="82550"/>
              <a:ext cx="2010256" cy="1753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77141" y="6241560"/>
            <a:ext cx="3249200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Moyenne (μ)</a:t>
            </a:r>
          </a:p>
          <a:p>
            <a:pPr algn="ctr">
              <a:lnSpc>
                <a:spcPts val="3599"/>
              </a:lnSpc>
            </a:pPr>
            <a:endParaRPr lang="en-US" sz="2999" spc="-89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Moyenne de toutes  les observations de la classe </a:t>
            </a:r>
            <a:r>
              <a:rPr lang="en-US" sz="2999" spc="-89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K</a:t>
            </a: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250267" y="5677966"/>
            <a:ext cx="3787467" cy="3365563"/>
            <a:chOff x="0" y="0"/>
            <a:chExt cx="2137256" cy="18991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7256" cy="1899177"/>
            </a:xfrm>
            <a:custGeom>
              <a:avLst/>
              <a:gdLst/>
              <a:ahLst/>
              <a:cxnLst/>
              <a:rect l="l" t="t" r="r" b="b"/>
              <a:pathLst>
                <a:path w="2137256" h="1899177">
                  <a:moveTo>
                    <a:pt x="197723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739157"/>
                  </a:lnTo>
                  <a:lnTo>
                    <a:pt x="160020" y="1899177"/>
                  </a:lnTo>
                  <a:lnTo>
                    <a:pt x="1977236" y="1899177"/>
                  </a:lnTo>
                  <a:lnTo>
                    <a:pt x="2137256" y="1739157"/>
                  </a:lnTo>
                  <a:lnTo>
                    <a:pt x="2137256" y="160020"/>
                  </a:lnTo>
                  <a:lnTo>
                    <a:pt x="1977236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82550"/>
              <a:ext cx="2010256" cy="1753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20215" y="6017722"/>
            <a:ext cx="3249200" cy="268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Prior (π)</a:t>
            </a:r>
          </a:p>
          <a:p>
            <a:pPr algn="ctr">
              <a:lnSpc>
                <a:spcPts val="3599"/>
              </a:lnSpc>
            </a:pPr>
            <a:endParaRPr lang="en-US" sz="2999" spc="-89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Proportion d'observations appartenant à la classe </a:t>
            </a:r>
            <a:r>
              <a:rPr lang="en-US" sz="2999" spc="-89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K</a:t>
            </a: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694958" y="5677966"/>
            <a:ext cx="3787467" cy="3365563"/>
            <a:chOff x="0" y="0"/>
            <a:chExt cx="2137256" cy="18991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7256" cy="1899177"/>
            </a:xfrm>
            <a:custGeom>
              <a:avLst/>
              <a:gdLst/>
              <a:ahLst/>
              <a:cxnLst/>
              <a:rect l="l" t="t" r="r" b="b"/>
              <a:pathLst>
                <a:path w="2137256" h="1899177">
                  <a:moveTo>
                    <a:pt x="197723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739157"/>
                  </a:lnTo>
                  <a:lnTo>
                    <a:pt x="160020" y="1899177"/>
                  </a:lnTo>
                  <a:lnTo>
                    <a:pt x="1977236" y="1899177"/>
                  </a:lnTo>
                  <a:lnTo>
                    <a:pt x="2137256" y="1739157"/>
                  </a:lnTo>
                  <a:lnTo>
                    <a:pt x="2137256" y="160020"/>
                  </a:lnTo>
                  <a:lnTo>
                    <a:pt x="1977236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00" y="82550"/>
              <a:ext cx="2010256" cy="1753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969364" y="6241560"/>
            <a:ext cx="3249200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Covariance (Σ)</a:t>
            </a:r>
          </a:p>
          <a:p>
            <a:pPr algn="ctr">
              <a:lnSpc>
                <a:spcPts val="3599"/>
              </a:lnSpc>
            </a:pPr>
            <a:endParaRPr lang="en-US" sz="2999" spc="-89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r>
              <a:rPr lang="en-US" sz="2999" spc="-89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Somme pondérée des variances intra-classes.</a:t>
            </a:r>
          </a:p>
        </p:txBody>
      </p:sp>
      <p:grpSp>
        <p:nvGrpSpPr>
          <p:cNvPr id="16" name="Group 16"/>
          <p:cNvGrpSpPr/>
          <p:nvPr/>
        </p:nvGrpSpPr>
        <p:grpSpPr>
          <a:xfrm rot="-5400000">
            <a:off x="6712500" y="3941021"/>
            <a:ext cx="4863001" cy="12973786"/>
            <a:chOff x="0" y="0"/>
            <a:chExt cx="1000617" cy="26695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0617" cy="2669503"/>
            </a:xfrm>
            <a:custGeom>
              <a:avLst/>
              <a:gdLst/>
              <a:ahLst/>
              <a:cxnLst/>
              <a:rect l="l" t="t" r="r" b="b"/>
              <a:pathLst>
                <a:path w="1000617" h="2669503">
                  <a:moveTo>
                    <a:pt x="0" y="0"/>
                  </a:moveTo>
                  <a:lnTo>
                    <a:pt x="1000617" y="0"/>
                  </a:lnTo>
                  <a:lnTo>
                    <a:pt x="1000617" y="2669503"/>
                  </a:lnTo>
                  <a:lnTo>
                    <a:pt x="0" y="2669503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00617" cy="2726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7765" y="1427638"/>
            <a:ext cx="8660238" cy="184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7161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QDA : LA FORME QUADRATIQUE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-1187155" y="4010571"/>
            <a:ext cx="4043861" cy="4452239"/>
            <a:chOff x="0" y="0"/>
            <a:chExt cx="890403" cy="9803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0403" cy="980322"/>
            </a:xfrm>
            <a:custGeom>
              <a:avLst/>
              <a:gdLst/>
              <a:ahLst/>
              <a:cxnLst/>
              <a:rect l="l" t="t" r="r" b="b"/>
              <a:pathLst>
                <a:path w="890403" h="980322">
                  <a:moveTo>
                    <a:pt x="0" y="0"/>
                  </a:moveTo>
                  <a:lnTo>
                    <a:pt x="890403" y="0"/>
                  </a:lnTo>
                  <a:lnTo>
                    <a:pt x="890403" y="980322"/>
                  </a:lnTo>
                  <a:lnTo>
                    <a:pt x="0" y="980322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90403" cy="103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36377" y="4010571"/>
            <a:ext cx="14402594" cy="4452239"/>
            <a:chOff x="0" y="0"/>
            <a:chExt cx="6629537" cy="20493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29537" cy="2049373"/>
            </a:xfrm>
            <a:custGeom>
              <a:avLst/>
              <a:gdLst/>
              <a:ahLst/>
              <a:cxnLst/>
              <a:rect l="l" t="t" r="r" b="b"/>
              <a:pathLst>
                <a:path w="6629537" h="2049373">
                  <a:moveTo>
                    <a:pt x="646951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89353"/>
                  </a:lnTo>
                  <a:lnTo>
                    <a:pt x="160020" y="2049373"/>
                  </a:lnTo>
                  <a:lnTo>
                    <a:pt x="6469517" y="2049373"/>
                  </a:lnTo>
                  <a:lnTo>
                    <a:pt x="6629537" y="1889353"/>
                  </a:lnTo>
                  <a:lnTo>
                    <a:pt x="6629537" y="160020"/>
                  </a:lnTo>
                  <a:lnTo>
                    <a:pt x="6469517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500" y="82550"/>
              <a:ext cx="6502537" cy="1903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026084" y="4629150"/>
            <a:ext cx="1406383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spc="-98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Si la somme de K est propre à chaque classe, la fonction devient quadratique : </a:t>
            </a:r>
          </a:p>
        </p:txBody>
      </p:sp>
      <p:sp>
        <p:nvSpPr>
          <p:cNvPr id="10" name="Freeform 10"/>
          <p:cNvSpPr/>
          <p:nvPr/>
        </p:nvSpPr>
        <p:spPr>
          <a:xfrm>
            <a:off x="5344744" y="5853279"/>
            <a:ext cx="9029341" cy="905647"/>
          </a:xfrm>
          <a:custGeom>
            <a:avLst/>
            <a:gdLst/>
            <a:ahLst/>
            <a:cxnLst/>
            <a:rect l="l" t="t" r="r" b="b"/>
            <a:pathLst>
              <a:path w="9029341" h="905647">
                <a:moveTo>
                  <a:pt x="0" y="0"/>
                </a:moveTo>
                <a:lnTo>
                  <a:pt x="9029342" y="0"/>
                </a:lnTo>
                <a:lnTo>
                  <a:pt x="9029342" y="905647"/>
                </a:lnTo>
                <a:lnTo>
                  <a:pt x="0" y="905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774" t="-167210" r="-13976" b="-16521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3026084" y="7449654"/>
            <a:ext cx="1235946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spc="-98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Note </a:t>
            </a:r>
            <a:r>
              <a:rPr lang="en-US" sz="3299" spc="-98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: Le terme xt.. ne s'annule plus, créant la courbure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9585" y="3705680"/>
            <a:ext cx="4055886" cy="5094026"/>
            <a:chOff x="0" y="0"/>
            <a:chExt cx="834544" cy="1048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4544" cy="1048153"/>
            </a:xfrm>
            <a:custGeom>
              <a:avLst/>
              <a:gdLst/>
              <a:ahLst/>
              <a:cxnLst/>
              <a:rect l="l" t="t" r="r" b="b"/>
              <a:pathLst>
                <a:path w="834544" h="1048153">
                  <a:moveTo>
                    <a:pt x="0" y="0"/>
                  </a:moveTo>
                  <a:lnTo>
                    <a:pt x="834544" y="0"/>
                  </a:lnTo>
                  <a:lnTo>
                    <a:pt x="834544" y="1048153"/>
                  </a:lnTo>
                  <a:lnTo>
                    <a:pt x="0" y="1048153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34544" cy="110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73470" y="3705680"/>
            <a:ext cx="11341061" cy="5094026"/>
            <a:chOff x="0" y="0"/>
            <a:chExt cx="5220308" cy="2344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20308" cy="2344788"/>
            </a:xfrm>
            <a:custGeom>
              <a:avLst/>
              <a:gdLst/>
              <a:ahLst/>
              <a:cxnLst/>
              <a:rect l="l" t="t" r="r" b="b"/>
              <a:pathLst>
                <a:path w="5220308" h="2344788">
                  <a:moveTo>
                    <a:pt x="5060288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184768"/>
                  </a:lnTo>
                  <a:lnTo>
                    <a:pt x="160020" y="2344788"/>
                  </a:lnTo>
                  <a:lnTo>
                    <a:pt x="5060288" y="2344788"/>
                  </a:lnTo>
                  <a:lnTo>
                    <a:pt x="5220308" y="2184768"/>
                  </a:lnTo>
                  <a:lnTo>
                    <a:pt x="5220308" y="160020"/>
                  </a:lnTo>
                  <a:lnTo>
                    <a:pt x="5060288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82550"/>
              <a:ext cx="5093308" cy="2198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76528" y="1538776"/>
            <a:ext cx="8660238" cy="184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7161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QDA : FLEXIBILITÉ QUADRATIQUE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04540" y="3898800"/>
            <a:ext cx="10878921" cy="465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2995" spc="-119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Flexibilité Courbe :</a:t>
            </a:r>
          </a:p>
          <a:p>
            <a:pPr algn="l">
              <a:lnSpc>
                <a:spcPts val="4193"/>
              </a:lnSpc>
            </a:pPr>
            <a:endParaRPr lang="en-US" sz="2995" spc="-119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l">
              <a:lnSpc>
                <a:spcPts val="4193"/>
              </a:lnSpc>
              <a:spcBef>
                <a:spcPct val="0"/>
              </a:spcBef>
            </a:pPr>
            <a:r>
              <a:rPr lang="en-US" sz="2995" spc="-11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Contrairement à LDA, QDA permet une matrice </a:t>
            </a:r>
            <a:r>
              <a:rPr lang="en-US" sz="2995" spc="-119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Σk </a:t>
            </a:r>
            <a:r>
              <a:rPr lang="en-US" sz="2995" spc="-11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spécifique à chaque classe.</a:t>
            </a:r>
          </a:p>
          <a:p>
            <a:pPr algn="l">
              <a:lnSpc>
                <a:spcPts val="4193"/>
              </a:lnSpc>
              <a:spcBef>
                <a:spcPct val="0"/>
              </a:spcBef>
            </a:pPr>
            <a:r>
              <a:rPr lang="en-US" sz="2995" spc="-11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Le terme quadratique </a:t>
            </a:r>
            <a:r>
              <a:rPr lang="en-US" sz="2995" spc="-119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ne s'annule plus</a:t>
            </a:r>
            <a:r>
              <a:rPr lang="en-US" sz="2995" spc="-11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, créant des frontières courbes :</a:t>
            </a:r>
          </a:p>
          <a:p>
            <a:pPr marL="646722" lvl="1" indent="-323361" algn="l">
              <a:lnSpc>
                <a:spcPts val="4193"/>
              </a:lnSpc>
              <a:buFont typeface="Arial"/>
              <a:buChar char="•"/>
            </a:pPr>
            <a:r>
              <a:rPr lang="en-US" sz="2995" spc="-11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S'adapte à l'hétéroscédasticité.</a:t>
            </a:r>
          </a:p>
          <a:p>
            <a:pPr marL="646722" lvl="1" indent="-323361" algn="l">
              <a:lnSpc>
                <a:spcPts val="4193"/>
              </a:lnSpc>
              <a:buFont typeface="Arial"/>
              <a:buChar char="•"/>
            </a:pPr>
            <a:r>
              <a:rPr lang="en-US" sz="2995" spc="-11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Trace des paraboles ou ellipses.</a:t>
            </a:r>
          </a:p>
          <a:p>
            <a:pPr marL="646722" lvl="1" indent="-323361" algn="l">
              <a:lnSpc>
                <a:spcPts val="4193"/>
              </a:lnSpc>
              <a:buFont typeface="Arial"/>
              <a:buChar char="•"/>
            </a:pPr>
            <a:r>
              <a:rPr lang="en-US" sz="2995" spc="-11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Exige plus de données pour l'estimation.</a:t>
            </a:r>
          </a:p>
          <a:p>
            <a:pPr algn="ctr">
              <a:lnSpc>
                <a:spcPts val="3488"/>
              </a:lnSpc>
            </a:pPr>
            <a:endParaRPr lang="en-US" sz="2995" spc="-119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62227" y="715547"/>
            <a:ext cx="9835863" cy="8855906"/>
          </a:xfrm>
          <a:custGeom>
            <a:avLst/>
            <a:gdLst/>
            <a:ahLst/>
            <a:cxnLst/>
            <a:rect l="l" t="t" r="r" b="b"/>
            <a:pathLst>
              <a:path w="9835863" h="8855906">
                <a:moveTo>
                  <a:pt x="0" y="0"/>
                </a:moveTo>
                <a:lnTo>
                  <a:pt x="9835863" y="0"/>
                </a:lnTo>
                <a:lnTo>
                  <a:pt x="9835863" y="8855906"/>
                </a:lnTo>
                <a:lnTo>
                  <a:pt x="0" y="885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54435" y="3695700"/>
            <a:ext cx="1379127" cy="0"/>
          </a:xfrm>
          <a:prstGeom prst="line">
            <a:avLst/>
          </a:prstGeom>
          <a:ln w="95250" cap="flat">
            <a:solidFill>
              <a:srgbClr val="5050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6835373" y="4209462"/>
            <a:ext cx="4617254" cy="1868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41"/>
              </a:lnSpc>
            </a:pPr>
            <a:r>
              <a:rPr lang="en-US" sz="7141" dirty="0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PARTIE PRATIQUE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8365" y="6005256"/>
            <a:ext cx="6951269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Implémentation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&amp;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Métriques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d'Évaluation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1028700" y="8652577"/>
            <a:ext cx="1399780" cy="605723"/>
          </a:xfrm>
          <a:custGeom>
            <a:avLst/>
            <a:gdLst/>
            <a:ahLst/>
            <a:cxnLst/>
            <a:rect l="l" t="t" r="r" b="b"/>
            <a:pathLst>
              <a:path w="1399780" h="605723">
                <a:moveTo>
                  <a:pt x="0" y="605723"/>
                </a:moveTo>
                <a:lnTo>
                  <a:pt x="1399780" y="605723"/>
                </a:lnTo>
                <a:lnTo>
                  <a:pt x="1399780" y="0"/>
                </a:lnTo>
                <a:lnTo>
                  <a:pt x="0" y="0"/>
                </a:lnTo>
                <a:lnTo>
                  <a:pt x="0" y="6057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 flipH="1" flipV="1">
            <a:off x="15859520" y="8652577"/>
            <a:ext cx="1399780" cy="605723"/>
          </a:xfrm>
          <a:custGeom>
            <a:avLst/>
            <a:gdLst/>
            <a:ahLst/>
            <a:cxnLst/>
            <a:rect l="l" t="t" r="r" b="b"/>
            <a:pathLst>
              <a:path w="1399780" h="605723">
                <a:moveTo>
                  <a:pt x="1399780" y="605723"/>
                </a:moveTo>
                <a:lnTo>
                  <a:pt x="0" y="605723"/>
                </a:lnTo>
                <a:lnTo>
                  <a:pt x="0" y="0"/>
                </a:lnTo>
                <a:lnTo>
                  <a:pt x="1399780" y="0"/>
                </a:lnTo>
                <a:lnTo>
                  <a:pt x="1399780" y="6057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6712500" y="3396749"/>
            <a:ext cx="4863001" cy="14062329"/>
            <a:chOff x="0" y="0"/>
            <a:chExt cx="1000617" cy="28934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0617" cy="2893483"/>
            </a:xfrm>
            <a:custGeom>
              <a:avLst/>
              <a:gdLst/>
              <a:ahLst/>
              <a:cxnLst/>
              <a:rect l="l" t="t" r="r" b="b"/>
              <a:pathLst>
                <a:path w="1000617" h="2893483">
                  <a:moveTo>
                    <a:pt x="0" y="0"/>
                  </a:moveTo>
                  <a:lnTo>
                    <a:pt x="1000617" y="0"/>
                  </a:lnTo>
                  <a:lnTo>
                    <a:pt x="1000617" y="2893483"/>
                  </a:lnTo>
                  <a:lnTo>
                    <a:pt x="0" y="2893483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000617" cy="2950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35347" y="4448426"/>
            <a:ext cx="4539818" cy="4355297"/>
            <a:chOff x="0" y="0"/>
            <a:chExt cx="2561805" cy="24576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61805" cy="2457681"/>
            </a:xfrm>
            <a:custGeom>
              <a:avLst/>
              <a:gdLst/>
              <a:ahLst/>
              <a:cxnLst/>
              <a:rect l="l" t="t" r="r" b="b"/>
              <a:pathLst>
                <a:path w="2561805" h="2457681">
                  <a:moveTo>
                    <a:pt x="240178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297661"/>
                  </a:lnTo>
                  <a:lnTo>
                    <a:pt x="160020" y="2457681"/>
                  </a:lnTo>
                  <a:lnTo>
                    <a:pt x="2401785" y="2457681"/>
                  </a:lnTo>
                  <a:lnTo>
                    <a:pt x="2561805" y="2297661"/>
                  </a:lnTo>
                  <a:lnTo>
                    <a:pt x="2561805" y="160020"/>
                  </a:lnTo>
                  <a:lnTo>
                    <a:pt x="2401785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82550"/>
              <a:ext cx="2434805" cy="2311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12835" y="4448426"/>
            <a:ext cx="4539818" cy="4355297"/>
            <a:chOff x="0" y="0"/>
            <a:chExt cx="2561805" cy="24576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1805" cy="2457681"/>
            </a:xfrm>
            <a:custGeom>
              <a:avLst/>
              <a:gdLst/>
              <a:ahLst/>
              <a:cxnLst/>
              <a:rect l="l" t="t" r="r" b="b"/>
              <a:pathLst>
                <a:path w="2561805" h="2457681">
                  <a:moveTo>
                    <a:pt x="240178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297661"/>
                  </a:lnTo>
                  <a:lnTo>
                    <a:pt x="160020" y="2457681"/>
                  </a:lnTo>
                  <a:lnTo>
                    <a:pt x="2401785" y="2457681"/>
                  </a:lnTo>
                  <a:lnTo>
                    <a:pt x="2561805" y="2297661"/>
                  </a:lnTo>
                  <a:lnTo>
                    <a:pt x="2561805" y="160020"/>
                  </a:lnTo>
                  <a:lnTo>
                    <a:pt x="2401785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00" y="82550"/>
              <a:ext cx="2434805" cy="2311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74091" y="4448426"/>
            <a:ext cx="4539818" cy="4355297"/>
            <a:chOff x="0" y="0"/>
            <a:chExt cx="2561805" cy="24576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61805" cy="2457681"/>
            </a:xfrm>
            <a:custGeom>
              <a:avLst/>
              <a:gdLst/>
              <a:ahLst/>
              <a:cxnLst/>
              <a:rect l="l" t="t" r="r" b="b"/>
              <a:pathLst>
                <a:path w="2561805" h="2457681">
                  <a:moveTo>
                    <a:pt x="240178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297661"/>
                  </a:lnTo>
                  <a:lnTo>
                    <a:pt x="160020" y="2457681"/>
                  </a:lnTo>
                  <a:lnTo>
                    <a:pt x="2401785" y="2457681"/>
                  </a:lnTo>
                  <a:lnTo>
                    <a:pt x="2561805" y="2297661"/>
                  </a:lnTo>
                  <a:lnTo>
                    <a:pt x="2561805" y="160020"/>
                  </a:lnTo>
                  <a:lnTo>
                    <a:pt x="2401785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00" y="82550"/>
              <a:ext cx="2434805" cy="2311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004275" y="4961345"/>
            <a:ext cx="756940" cy="796693"/>
          </a:xfrm>
          <a:custGeom>
            <a:avLst/>
            <a:gdLst/>
            <a:ahLst/>
            <a:cxnLst/>
            <a:rect l="l" t="t" r="r" b="b"/>
            <a:pathLst>
              <a:path w="756940" h="796693">
                <a:moveTo>
                  <a:pt x="0" y="0"/>
                </a:moveTo>
                <a:lnTo>
                  <a:pt x="756939" y="0"/>
                </a:lnTo>
                <a:lnTo>
                  <a:pt x="756939" y="796693"/>
                </a:lnTo>
                <a:lnTo>
                  <a:pt x="0" y="796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408" t="-9159" r="-55171" b="-2025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8670124" y="4996066"/>
            <a:ext cx="947752" cy="761972"/>
          </a:xfrm>
          <a:custGeom>
            <a:avLst/>
            <a:gdLst/>
            <a:ahLst/>
            <a:cxnLst/>
            <a:rect l="l" t="t" r="r" b="b"/>
            <a:pathLst>
              <a:path w="947752" h="761972">
                <a:moveTo>
                  <a:pt x="0" y="0"/>
                </a:moveTo>
                <a:lnTo>
                  <a:pt x="947752" y="0"/>
                </a:lnTo>
                <a:lnTo>
                  <a:pt x="947752" y="761972"/>
                </a:lnTo>
                <a:lnTo>
                  <a:pt x="0" y="761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777" t="-29214" r="-19874" b="-1629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16"/>
          <p:cNvSpPr/>
          <p:nvPr/>
        </p:nvSpPr>
        <p:spPr>
          <a:xfrm>
            <a:off x="13411678" y="4996066"/>
            <a:ext cx="987153" cy="807972"/>
          </a:xfrm>
          <a:custGeom>
            <a:avLst/>
            <a:gdLst/>
            <a:ahLst/>
            <a:cxnLst/>
            <a:rect l="l" t="t" r="r" b="b"/>
            <a:pathLst>
              <a:path w="987153" h="807972">
                <a:moveTo>
                  <a:pt x="0" y="0"/>
                </a:moveTo>
                <a:lnTo>
                  <a:pt x="987153" y="0"/>
                </a:lnTo>
                <a:lnTo>
                  <a:pt x="987153" y="807971"/>
                </a:lnTo>
                <a:lnTo>
                  <a:pt x="0" y="807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99" t="-26952" r="-33185" b="-3034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TextBox 17"/>
          <p:cNvSpPr txBox="1"/>
          <p:nvPr/>
        </p:nvSpPr>
        <p:spPr>
          <a:xfrm>
            <a:off x="7204978" y="6037431"/>
            <a:ext cx="3878043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89" dirty="0" err="1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Modalisation</a:t>
            </a:r>
            <a:endParaRPr lang="en-US" sz="2999" spc="-89" dirty="0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endParaRPr lang="en-US" sz="2999" spc="-89" dirty="0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Entraînement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via Python et Scikit-Learn </a:t>
            </a:r>
            <a:r>
              <a:rPr lang="en-US" sz="2999" spc="-89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(fit / predict)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7517" y="1288330"/>
            <a:ext cx="10390191" cy="184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1"/>
              </a:lnSpc>
            </a:pPr>
            <a:r>
              <a:rPr lang="en-US" sz="7141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WORKFLOW D'IMPLÉMENTATION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47876" y="6205390"/>
            <a:ext cx="4348544" cy="223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3"/>
              </a:lnSpc>
            </a:pPr>
            <a:r>
              <a:rPr lang="en-US" sz="3000" spc="-73" dirty="0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Code Source</a:t>
            </a:r>
          </a:p>
          <a:p>
            <a:pPr algn="ctr">
              <a:lnSpc>
                <a:spcPts val="2943"/>
              </a:lnSpc>
            </a:pPr>
            <a:endParaRPr lang="en-US" sz="3000" spc="-73" dirty="0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2943"/>
              </a:lnSpc>
            </a:pPr>
            <a:r>
              <a:rPr lang="en-US" sz="3000" spc="-73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Utilisation</a:t>
            </a:r>
            <a:r>
              <a:rPr lang="en-US" sz="3000" spc="-73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des classes Linear Discriminant Analysis et Quadratic Discriminant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52324" y="6037431"/>
            <a:ext cx="3860840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spc="-89" dirty="0" err="1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Analyse</a:t>
            </a:r>
            <a:r>
              <a:rPr lang="en-US" sz="2999" spc="-89" dirty="0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 </a:t>
            </a:r>
            <a:r>
              <a:rPr lang="en-US" sz="2999" spc="-89" dirty="0" err="1">
                <a:solidFill>
                  <a:srgbClr val="505050"/>
                </a:solidFill>
                <a:latin typeface="Alice Bold"/>
                <a:ea typeface="Alice Bold"/>
                <a:cs typeface="Alice Bold"/>
                <a:sym typeface="Alice Bold"/>
              </a:rPr>
              <a:t>Exploratoire</a:t>
            </a:r>
            <a:endParaRPr lang="en-US" sz="2999" spc="-89" dirty="0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endParaRPr lang="en-US" sz="2999" spc="-89" dirty="0">
              <a:solidFill>
                <a:srgbClr val="50505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ctr">
              <a:lnSpc>
                <a:spcPts val="3599"/>
              </a:lnSpc>
            </a:pP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Vérifier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la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normalité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des variables et les matrices de </a:t>
            </a:r>
            <a:r>
              <a:rPr lang="en-US" sz="2999" spc="-8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corrélation</a:t>
            </a:r>
            <a:r>
              <a:rPr lang="en-US" sz="2999" spc="-8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968" y="3226810"/>
            <a:ext cx="7248646" cy="4626246"/>
            <a:chOff x="0" y="0"/>
            <a:chExt cx="3336563" cy="2129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6563" cy="2129469"/>
            </a:xfrm>
            <a:custGeom>
              <a:avLst/>
              <a:gdLst/>
              <a:ahLst/>
              <a:cxnLst/>
              <a:rect l="l" t="t" r="r" b="b"/>
              <a:pathLst>
                <a:path w="3336563" h="2129469">
                  <a:moveTo>
                    <a:pt x="317654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969449"/>
                  </a:lnTo>
                  <a:lnTo>
                    <a:pt x="160020" y="2129469"/>
                  </a:lnTo>
                  <a:lnTo>
                    <a:pt x="3176543" y="2129469"/>
                  </a:lnTo>
                  <a:lnTo>
                    <a:pt x="3336563" y="1969449"/>
                  </a:lnTo>
                  <a:lnTo>
                    <a:pt x="3336563" y="160020"/>
                  </a:lnTo>
                  <a:lnTo>
                    <a:pt x="3176543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82550"/>
              <a:ext cx="3209563" cy="1983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7721992" y="2944790"/>
            <a:ext cx="3523953" cy="5190285"/>
            <a:chOff x="0" y="0"/>
            <a:chExt cx="775926" cy="11428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5926" cy="1142830"/>
            </a:xfrm>
            <a:custGeom>
              <a:avLst/>
              <a:gdLst/>
              <a:ahLst/>
              <a:cxnLst/>
              <a:rect l="l" t="t" r="r" b="b"/>
              <a:pathLst>
                <a:path w="775926" h="1142830">
                  <a:moveTo>
                    <a:pt x="0" y="0"/>
                  </a:moveTo>
                  <a:lnTo>
                    <a:pt x="775926" y="0"/>
                  </a:lnTo>
                  <a:lnTo>
                    <a:pt x="775926" y="1142830"/>
                  </a:lnTo>
                  <a:lnTo>
                    <a:pt x="0" y="1142830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75926" cy="1199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07517" y="1288330"/>
            <a:ext cx="13147967" cy="94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1"/>
              </a:lnSpc>
            </a:pPr>
            <a:r>
              <a:rPr lang="en-US" sz="7141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MESURES DE PERFORMANCE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00" y="3749233"/>
            <a:ext cx="6850181" cy="358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999" spc="-89" dirty="0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Exactitude (Accuracy)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: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Taux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de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prédiction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correcte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globale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  <a:p>
            <a:pPr algn="just">
              <a:lnSpc>
                <a:spcPts val="3599"/>
              </a:lnSpc>
            </a:pPr>
            <a:r>
              <a:rPr lang="en-US" sz="2999" spc="-89" dirty="0" err="1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Sensibilité</a:t>
            </a:r>
            <a:r>
              <a:rPr lang="en-US" sz="2999" spc="-89" dirty="0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 (Recall) 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: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Capacité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à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détecter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les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vrais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positifs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  <a:p>
            <a:pPr algn="just">
              <a:lnSpc>
                <a:spcPts val="3599"/>
              </a:lnSpc>
            </a:pPr>
            <a:r>
              <a:rPr lang="en-US" sz="2999" spc="-89" dirty="0" err="1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Spécificité</a:t>
            </a:r>
            <a:r>
              <a:rPr lang="en-US" sz="2999" spc="-89" dirty="0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 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: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Taux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de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réussite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sur les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vrais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négatifs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  <a:p>
            <a:pPr algn="just">
              <a:lnSpc>
                <a:spcPts val="3599"/>
              </a:lnSpc>
            </a:pPr>
            <a:r>
              <a:rPr lang="en-US" sz="2999" spc="-89" dirty="0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Score F1 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: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Équilibre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entre </a:t>
            </a:r>
            <a:r>
              <a:rPr lang="en-US" sz="2999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précision</a:t>
            </a:r>
            <a:r>
              <a:rPr lang="en-US" sz="2999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et rappel (indispensable).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245944" y="2231717"/>
            <a:ext cx="6592352" cy="6844075"/>
          </a:xfrm>
          <a:custGeom>
            <a:avLst/>
            <a:gdLst/>
            <a:ahLst/>
            <a:cxnLst/>
            <a:rect l="l" t="t" r="r" b="b"/>
            <a:pathLst>
              <a:path w="6592352" h="6844075">
                <a:moveTo>
                  <a:pt x="0" y="0"/>
                </a:moveTo>
                <a:lnTo>
                  <a:pt x="6592352" y="0"/>
                </a:lnTo>
                <a:lnTo>
                  <a:pt x="6592352" y="6844075"/>
                </a:lnTo>
                <a:lnTo>
                  <a:pt x="0" y="684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26" t="-10037" r="-3185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6547" y="583984"/>
            <a:ext cx="12156216" cy="165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sz="6305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CODE SOURCE : CONSTRUCTION DES MODÈLES LDA &amp; QDA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955254" y="2449387"/>
            <a:ext cx="8425368" cy="7134889"/>
            <a:chOff x="0" y="0"/>
            <a:chExt cx="4536656" cy="38417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36656" cy="3841795"/>
            </a:xfrm>
            <a:custGeom>
              <a:avLst/>
              <a:gdLst/>
              <a:ahLst/>
              <a:cxnLst/>
              <a:rect l="l" t="t" r="r" b="b"/>
              <a:pathLst>
                <a:path w="4536656" h="3841795">
                  <a:moveTo>
                    <a:pt x="437663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681775"/>
                  </a:lnTo>
                  <a:lnTo>
                    <a:pt x="160020" y="3841795"/>
                  </a:lnTo>
                  <a:lnTo>
                    <a:pt x="4376636" y="3841795"/>
                  </a:lnTo>
                  <a:lnTo>
                    <a:pt x="4536656" y="3681775"/>
                  </a:lnTo>
                  <a:lnTo>
                    <a:pt x="4536656" y="160020"/>
                  </a:lnTo>
                  <a:lnTo>
                    <a:pt x="4376636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500" y="82550"/>
              <a:ext cx="4409656" cy="3695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9966" y="2911527"/>
            <a:ext cx="3854034" cy="6210611"/>
          </a:xfrm>
          <a:custGeom>
            <a:avLst/>
            <a:gdLst/>
            <a:ahLst/>
            <a:cxnLst/>
            <a:rect l="l" t="t" r="r" b="b"/>
            <a:pathLst>
              <a:path w="3854034" h="6210611">
                <a:moveTo>
                  <a:pt x="0" y="0"/>
                </a:moveTo>
                <a:lnTo>
                  <a:pt x="3854034" y="0"/>
                </a:lnTo>
                <a:lnTo>
                  <a:pt x="3854034" y="6210610"/>
                </a:lnTo>
                <a:lnTo>
                  <a:pt x="0" y="6210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65" r="-405" b="-9212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0" y="2911527"/>
            <a:ext cx="3871898" cy="6210611"/>
          </a:xfrm>
          <a:custGeom>
            <a:avLst/>
            <a:gdLst/>
            <a:ahLst/>
            <a:cxnLst/>
            <a:rect l="l" t="t" r="r" b="b"/>
            <a:pathLst>
              <a:path w="3871898" h="6210611">
                <a:moveTo>
                  <a:pt x="0" y="0"/>
                </a:moveTo>
                <a:lnTo>
                  <a:pt x="3871898" y="0"/>
                </a:lnTo>
                <a:lnTo>
                  <a:pt x="3871898" y="6210610"/>
                </a:lnTo>
                <a:lnTo>
                  <a:pt x="0" y="6210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4" t="-121880" r="-9414" b="-5450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" name="Group 8"/>
          <p:cNvGrpSpPr/>
          <p:nvPr/>
        </p:nvGrpSpPr>
        <p:grpSpPr>
          <a:xfrm rot="-5400000">
            <a:off x="8556421" y="5520969"/>
            <a:ext cx="1223032" cy="8425368"/>
            <a:chOff x="0" y="0"/>
            <a:chExt cx="251653" cy="17336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1653" cy="1733615"/>
            </a:xfrm>
            <a:custGeom>
              <a:avLst/>
              <a:gdLst/>
              <a:ahLst/>
              <a:cxnLst/>
              <a:rect l="l" t="t" r="r" b="b"/>
              <a:pathLst>
                <a:path w="251653" h="1733615">
                  <a:moveTo>
                    <a:pt x="0" y="0"/>
                  </a:moveTo>
                  <a:lnTo>
                    <a:pt x="251653" y="0"/>
                  </a:lnTo>
                  <a:lnTo>
                    <a:pt x="251653" y="1733615"/>
                  </a:lnTo>
                  <a:lnTo>
                    <a:pt x="0" y="1733615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1653" cy="1790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8253" y="2209616"/>
            <a:ext cx="6011729" cy="7707816"/>
            <a:chOff x="0" y="0"/>
            <a:chExt cx="2869956" cy="36796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9956" cy="3679656"/>
            </a:xfrm>
            <a:custGeom>
              <a:avLst/>
              <a:gdLst/>
              <a:ahLst/>
              <a:cxnLst/>
              <a:rect l="l" t="t" r="r" b="b"/>
              <a:pathLst>
                <a:path w="2869956" h="3679656">
                  <a:moveTo>
                    <a:pt x="270993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519636"/>
                  </a:lnTo>
                  <a:lnTo>
                    <a:pt x="160020" y="3679656"/>
                  </a:lnTo>
                  <a:lnTo>
                    <a:pt x="2709936" y="3679656"/>
                  </a:lnTo>
                  <a:lnTo>
                    <a:pt x="2869956" y="3519636"/>
                  </a:lnTo>
                  <a:lnTo>
                    <a:pt x="2869956" y="160020"/>
                  </a:lnTo>
                  <a:lnTo>
                    <a:pt x="2709936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82550"/>
              <a:ext cx="2742956" cy="353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42902" y="6695159"/>
            <a:ext cx="6011729" cy="294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6350" lvl="1" indent="-298175" algn="l">
              <a:lnSpc>
                <a:spcPts val="3314"/>
              </a:lnSpc>
              <a:buFont typeface="Arial"/>
              <a:buChar char="•"/>
            </a:pP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Le modèle a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dessiné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une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ligne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droite </a:t>
            </a:r>
            <a:r>
              <a:rPr lang="en-US" sz="2762" spc="-82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(</a:t>
            </a:r>
            <a:r>
              <a:rPr lang="en-US" sz="2762" spc="-82" dirty="0" err="1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frontière</a:t>
            </a:r>
            <a:r>
              <a:rPr lang="en-US" sz="2762" spc="-82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 </a:t>
            </a:r>
            <a:r>
              <a:rPr lang="en-US" sz="2762" spc="-82" dirty="0" err="1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linéaire</a:t>
            </a:r>
            <a:r>
              <a:rPr lang="en-US" sz="2762" spc="-82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)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pour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séparer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les points bleus des points rouges.</a:t>
            </a:r>
          </a:p>
          <a:p>
            <a:pPr marL="596350" lvl="1" indent="-298175" algn="l">
              <a:lnSpc>
                <a:spcPts val="3314"/>
              </a:lnSpc>
              <a:buFont typeface="Arial"/>
              <a:buChar char="•"/>
            </a:pP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Cela est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dû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à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l'hypothèse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de LDA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que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les deux classes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partagent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la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même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762" spc="-82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matrice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de covariance </a:t>
            </a:r>
            <a:r>
              <a:rPr lang="en-US" sz="2762" spc="-82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(</a:t>
            </a:r>
            <a:r>
              <a:rPr lang="en-US" sz="2762" spc="-82" dirty="0" err="1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même</a:t>
            </a:r>
            <a:r>
              <a:rPr lang="en-US" sz="2762" spc="-82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 </a:t>
            </a:r>
            <a:r>
              <a:rPr lang="en-US" sz="2762" spc="-82" dirty="0" err="1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forme</a:t>
            </a:r>
            <a:r>
              <a:rPr lang="en-US" sz="2762" spc="-82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 de distribution)</a:t>
            </a:r>
            <a:r>
              <a:rPr lang="en-US" sz="2762" spc="-82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693871" y="2218054"/>
            <a:ext cx="6011729" cy="7707816"/>
            <a:chOff x="0" y="0"/>
            <a:chExt cx="2869956" cy="36796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9956" cy="3679656"/>
            </a:xfrm>
            <a:custGeom>
              <a:avLst/>
              <a:gdLst/>
              <a:ahLst/>
              <a:cxnLst/>
              <a:rect l="l" t="t" r="r" b="b"/>
              <a:pathLst>
                <a:path w="2869956" h="3679656">
                  <a:moveTo>
                    <a:pt x="270993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519636"/>
                  </a:lnTo>
                  <a:lnTo>
                    <a:pt x="160020" y="3679656"/>
                  </a:lnTo>
                  <a:lnTo>
                    <a:pt x="2709936" y="3679656"/>
                  </a:lnTo>
                  <a:lnTo>
                    <a:pt x="2869956" y="3519636"/>
                  </a:lnTo>
                  <a:lnTo>
                    <a:pt x="2869956" y="160020"/>
                  </a:lnTo>
                  <a:lnTo>
                    <a:pt x="2709936" y="0"/>
                  </a:lnTo>
                  <a:close/>
                </a:path>
              </a:pathLst>
            </a:custGeom>
            <a:solidFill>
              <a:srgbClr val="0D1007"/>
            </a:solidFill>
            <a:ln w="9525" cap="sq">
              <a:solidFill>
                <a:srgbClr val="38B6FF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500" y="82550"/>
              <a:ext cx="2742956" cy="353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722437" y="6704684"/>
            <a:ext cx="5954596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114" lvl="1" indent="-285057" algn="l">
              <a:lnSpc>
                <a:spcPts val="3168"/>
              </a:lnSpc>
              <a:buFont typeface="Arial"/>
              <a:buChar char="•"/>
            </a:pP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Le modèle a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dessiné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une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courbe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(</a:t>
            </a:r>
            <a:r>
              <a:rPr lang="en-US" sz="2640" spc="-79" dirty="0" err="1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frontière</a:t>
            </a:r>
            <a:r>
              <a:rPr lang="en-US" sz="2640" spc="-79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quadratique</a:t>
            </a:r>
            <a:r>
              <a:rPr lang="en-US" sz="2640" spc="-79" dirty="0">
                <a:solidFill>
                  <a:srgbClr val="EFF3F6"/>
                </a:solidFill>
                <a:latin typeface="Alice Bold"/>
                <a:ea typeface="Alice Bold"/>
                <a:cs typeface="Alice Bold"/>
                <a:sym typeface="Alice Bold"/>
              </a:rPr>
              <a:t>)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  <a:p>
            <a:pPr marL="570114" lvl="1" indent="-285057" algn="l">
              <a:lnSpc>
                <a:spcPts val="3168"/>
              </a:lnSpc>
              <a:buFont typeface="Arial"/>
              <a:buChar char="•"/>
            </a:pP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QDA est plus flexible : il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permet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à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chaque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classe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d'avoir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sa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propre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matrice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de covariance.</a:t>
            </a:r>
          </a:p>
          <a:p>
            <a:pPr marL="570114" lvl="1" indent="-285057" algn="l">
              <a:lnSpc>
                <a:spcPts val="3168"/>
              </a:lnSpc>
              <a:buFont typeface="Arial"/>
              <a:buChar char="•"/>
            </a:pP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On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voit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ici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que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la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courbe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s'adapte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mieux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à la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forme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spécifique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du </a:t>
            </a:r>
            <a:r>
              <a:rPr lang="en-US" sz="2640" spc="-79" dirty="0" err="1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nuage</a:t>
            </a:r>
            <a:r>
              <a:rPr lang="en-US" sz="2640" spc="-79" dirty="0">
                <a:solidFill>
                  <a:srgbClr val="EFF3F6"/>
                </a:solidFill>
                <a:latin typeface="Alice"/>
                <a:ea typeface="Alice"/>
                <a:cs typeface="Alice"/>
                <a:sym typeface="Alice"/>
              </a:rPr>
              <a:t> de points bleus.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2226493"/>
            <a:ext cx="2658122" cy="7699377"/>
            <a:chOff x="0" y="0"/>
            <a:chExt cx="546939" cy="15842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6939" cy="1584234"/>
            </a:xfrm>
            <a:custGeom>
              <a:avLst/>
              <a:gdLst/>
              <a:ahLst/>
              <a:cxnLst/>
              <a:rect l="l" t="t" r="r" b="b"/>
              <a:pathLst>
                <a:path w="546939" h="1584234">
                  <a:moveTo>
                    <a:pt x="0" y="0"/>
                  </a:moveTo>
                  <a:lnTo>
                    <a:pt x="546939" y="0"/>
                  </a:lnTo>
                  <a:lnTo>
                    <a:pt x="546939" y="1584234"/>
                  </a:lnTo>
                  <a:lnTo>
                    <a:pt x="0" y="1584234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546939" cy="164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15361471" y="2226493"/>
            <a:ext cx="2926529" cy="7699377"/>
            <a:chOff x="0" y="0"/>
            <a:chExt cx="602166" cy="15842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2166" cy="1584234"/>
            </a:xfrm>
            <a:custGeom>
              <a:avLst/>
              <a:gdLst/>
              <a:ahLst/>
              <a:cxnLst/>
              <a:rect l="l" t="t" r="r" b="b"/>
              <a:pathLst>
                <a:path w="602166" h="1584234">
                  <a:moveTo>
                    <a:pt x="0" y="0"/>
                  </a:moveTo>
                  <a:lnTo>
                    <a:pt x="602166" y="0"/>
                  </a:lnTo>
                  <a:lnTo>
                    <a:pt x="602166" y="1584234"/>
                  </a:lnTo>
                  <a:lnTo>
                    <a:pt x="0" y="1584234"/>
                  </a:lnTo>
                  <a:close/>
                </a:path>
              </a:pathLst>
            </a:custGeom>
            <a:gradFill rotWithShape="1">
              <a:gsLst>
                <a:gs pos="0">
                  <a:srgbClr val="39B6FF">
                    <a:alpha val="50000"/>
                  </a:srgbClr>
                </a:gs>
                <a:gs pos="100000">
                  <a:srgbClr val="37B5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602166" cy="164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619719" y="2642148"/>
            <a:ext cx="4160033" cy="3633911"/>
          </a:xfrm>
          <a:custGeom>
            <a:avLst/>
            <a:gdLst/>
            <a:ahLst/>
            <a:cxnLst/>
            <a:rect l="l" t="t" r="r" b="b"/>
            <a:pathLst>
              <a:path w="4160033" h="3633911">
                <a:moveTo>
                  <a:pt x="0" y="0"/>
                </a:moveTo>
                <a:lnTo>
                  <a:pt x="4160033" y="0"/>
                </a:lnTo>
                <a:lnTo>
                  <a:pt x="4160033" y="3633911"/>
                </a:lnTo>
                <a:lnTo>
                  <a:pt x="0" y="3633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Freeform 17"/>
          <p:cNvSpPr/>
          <p:nvPr/>
        </p:nvSpPr>
        <p:spPr>
          <a:xfrm>
            <a:off x="3296161" y="2642148"/>
            <a:ext cx="4175912" cy="3633911"/>
          </a:xfrm>
          <a:custGeom>
            <a:avLst/>
            <a:gdLst/>
            <a:ahLst/>
            <a:cxnLst/>
            <a:rect l="l" t="t" r="r" b="b"/>
            <a:pathLst>
              <a:path w="4175912" h="3633911">
                <a:moveTo>
                  <a:pt x="0" y="0"/>
                </a:moveTo>
                <a:lnTo>
                  <a:pt x="4175912" y="0"/>
                </a:lnTo>
                <a:lnTo>
                  <a:pt x="4175912" y="3633911"/>
                </a:lnTo>
                <a:lnTo>
                  <a:pt x="0" y="363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8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549087" y="594165"/>
            <a:ext cx="12150649" cy="161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7"/>
              </a:lnSpc>
            </a:pPr>
            <a:r>
              <a:rPr lang="en-US" sz="6237" dirty="0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VISUALISATION DES FRONTIÈRES DE DÉCISION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7517" y="1288330"/>
            <a:ext cx="11389385" cy="184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1"/>
              </a:lnSpc>
            </a:pPr>
            <a:r>
              <a:rPr lang="en-US" sz="7141" dirty="0">
                <a:solidFill>
                  <a:srgbClr val="38B6FF"/>
                </a:solidFill>
                <a:latin typeface="Amiri"/>
                <a:ea typeface="Amiri"/>
                <a:cs typeface="Amiri"/>
                <a:sym typeface="Amiri"/>
              </a:rPr>
              <a:t>SYNTHÈSE : QUEL MODÈLE CHOISIR ?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5070A24-D2A4-5A0C-E20F-26F5896B1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43486"/>
              </p:ext>
            </p:extLst>
          </p:nvPr>
        </p:nvGraphicFramePr>
        <p:xfrm>
          <a:off x="2781300" y="3771900"/>
          <a:ext cx="12725400" cy="3683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251732223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3959843829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94773723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7954312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093676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fr-FR" b="0" i="0" dirty="0">
                          <a:effectLst/>
                        </a:rPr>
                        <a:t>é</a:t>
                      </a:r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948453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0665814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170238"/>
                  </a:ext>
                </a:extLst>
              </a:tr>
            </a:tbl>
          </a:graphicData>
        </a:graphic>
      </p:graphicFrame>
      <p:sp>
        <p:nvSpPr>
          <p:cNvPr id="4" name="TextBox 9">
            <a:extLst>
              <a:ext uri="{FF2B5EF4-FFF2-40B4-BE49-F238E27FC236}">
                <a16:creationId xmlns:a16="http://schemas.microsoft.com/office/drawing/2014/main" id="{B7AAF322-31FB-6D42-AB7C-5C41D8FB645B}"/>
              </a:ext>
            </a:extLst>
          </p:cNvPr>
          <p:cNvSpPr txBox="1"/>
          <p:nvPr/>
        </p:nvSpPr>
        <p:spPr>
          <a:xfrm>
            <a:off x="2838450" y="3968647"/>
            <a:ext cx="335280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CARACT</a:t>
            </a:r>
            <a:r>
              <a:rPr lang="en-US" sz="3200" dirty="0">
                <a:solidFill>
                  <a:schemeClr val="bg1"/>
                </a:solidFill>
                <a:latin typeface="Amiri"/>
                <a:ea typeface="Amiri"/>
                <a:cs typeface="Amiri"/>
                <a:sym typeface="Amiri"/>
              </a:rPr>
              <a:t>É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RISTIQUE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CA3A4E4D-76EB-BF7F-A8BB-F8F93AB29161}"/>
              </a:ext>
            </a:extLst>
          </p:cNvPr>
          <p:cNvSpPr txBox="1"/>
          <p:nvPr/>
        </p:nvSpPr>
        <p:spPr>
          <a:xfrm>
            <a:off x="3809999" y="4603955"/>
            <a:ext cx="160020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fr-FR" sz="3000" dirty="0" err="1">
                <a:solidFill>
                  <a:schemeClr val="bg1"/>
                </a:solidFill>
                <a:latin typeface="Alice" panose="020B0604020202020204" charset="0"/>
              </a:rPr>
              <a:t>Forntière</a:t>
            </a:r>
            <a:endParaRPr lang="en-US" sz="3000" spc="-89" dirty="0">
              <a:solidFill>
                <a:schemeClr val="bg1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8F3A9A85-33EC-B522-9993-62B3AD6AAF06}"/>
              </a:ext>
            </a:extLst>
          </p:cNvPr>
          <p:cNvSpPr txBox="1"/>
          <p:nvPr/>
        </p:nvSpPr>
        <p:spPr>
          <a:xfrm>
            <a:off x="3601065" y="5384800"/>
            <a:ext cx="1885334" cy="457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   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6D719A4-B43A-FFFA-0FEC-877E22B68B81}"/>
              </a:ext>
            </a:extLst>
          </p:cNvPr>
          <p:cNvSpPr txBox="1"/>
          <p:nvPr/>
        </p:nvSpPr>
        <p:spPr>
          <a:xfrm>
            <a:off x="3657598" y="6845300"/>
            <a:ext cx="1828801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Overfitting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99F4D7-BECE-34F6-EF63-C1D416F95535}"/>
              </a:ext>
            </a:extLst>
          </p:cNvPr>
          <p:cNvSpPr txBox="1"/>
          <p:nvPr/>
        </p:nvSpPr>
        <p:spPr>
          <a:xfrm>
            <a:off x="7086598" y="3982196"/>
            <a:ext cx="281940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LDA ( LIN</a:t>
            </a:r>
            <a:r>
              <a:rPr lang="en-US" sz="2800" dirty="0">
                <a:solidFill>
                  <a:schemeClr val="bg1"/>
                </a:solidFill>
                <a:latin typeface="Amiri"/>
                <a:ea typeface="Amiri"/>
                <a:cs typeface="Amiri"/>
                <a:sym typeface="Amiri"/>
              </a:rPr>
              <a:t>É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AIRE )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20DD26C-D70C-323B-720E-53BA837449DD}"/>
              </a:ext>
            </a:extLst>
          </p:cNvPr>
          <p:cNvSpPr txBox="1"/>
          <p:nvPr/>
        </p:nvSpPr>
        <p:spPr>
          <a:xfrm>
            <a:off x="6896100" y="4603955"/>
            <a:ext cx="320040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Droite ( </a:t>
            </a:r>
            <a:r>
              <a:rPr lang="en-US" sz="3000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Hyperplan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)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28E3D41-D329-8831-320B-618B42C1E58A}"/>
              </a:ext>
            </a:extLst>
          </p:cNvPr>
          <p:cNvSpPr txBox="1"/>
          <p:nvPr/>
        </p:nvSpPr>
        <p:spPr>
          <a:xfrm>
            <a:off x="6548898" y="5384800"/>
            <a:ext cx="389480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Faible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(Mod</a:t>
            </a:r>
            <a:r>
              <a:rPr lang="fr-FR" sz="3000" dirty="0" err="1">
                <a:solidFill>
                  <a:schemeClr val="bg1"/>
                </a:solidFill>
                <a:latin typeface="Alice" panose="020B0604020202020204" charset="0"/>
              </a:rPr>
              <a:t>èle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3000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robuste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)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018BDD95-B857-5502-4552-2EA9CCAA0C9D}"/>
              </a:ext>
            </a:extLst>
          </p:cNvPr>
          <p:cNvSpPr txBox="1"/>
          <p:nvPr/>
        </p:nvSpPr>
        <p:spPr>
          <a:xfrm>
            <a:off x="6410323" y="6165645"/>
            <a:ext cx="4171951" cy="424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500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Efficace</a:t>
            </a:r>
            <a:r>
              <a:rPr lang="en-US" sz="25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meme avec peu de data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B5CB8C30-873D-D101-E465-5D28B43C0347}"/>
              </a:ext>
            </a:extLst>
          </p:cNvPr>
          <p:cNvSpPr txBox="1"/>
          <p:nvPr/>
        </p:nvSpPr>
        <p:spPr>
          <a:xfrm>
            <a:off x="7100119" y="6845300"/>
            <a:ext cx="2805881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Risque tr</a:t>
            </a:r>
            <a:r>
              <a:rPr lang="fr-FR" sz="3000" dirty="0">
                <a:solidFill>
                  <a:schemeClr val="bg1"/>
                </a:solidFill>
                <a:latin typeface="Alice" panose="020B0604020202020204" charset="0"/>
              </a:rPr>
              <a:t>ès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3000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faible</a:t>
            </a:r>
            <a:endParaRPr lang="en-US" sz="3000" spc="-89" dirty="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A271EB47-91DB-3B42-C4D2-063576D03CE2}"/>
              </a:ext>
            </a:extLst>
          </p:cNvPr>
          <p:cNvSpPr txBox="1"/>
          <p:nvPr/>
        </p:nvSpPr>
        <p:spPr>
          <a:xfrm>
            <a:off x="11201400" y="3925529"/>
            <a:ext cx="38100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QDA ( QUADRATIQUE )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E11FB57-A8D1-C613-799B-094ADFB222C3}"/>
              </a:ext>
            </a:extLst>
          </p:cNvPr>
          <p:cNvSpPr txBox="1"/>
          <p:nvPr/>
        </p:nvSpPr>
        <p:spPr>
          <a:xfrm>
            <a:off x="11201400" y="5384800"/>
            <a:ext cx="397649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3000" spc="-89" dirty="0" err="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Elevee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( Mod</a:t>
            </a:r>
            <a:r>
              <a:rPr lang="fr-FR" sz="3000" dirty="0" err="1">
                <a:solidFill>
                  <a:schemeClr val="bg1"/>
                </a:solidFill>
                <a:latin typeface="Alice" panose="020B0604020202020204" charset="0"/>
              </a:rPr>
              <a:t>èle</a:t>
            </a:r>
            <a:r>
              <a:rPr lang="fr-FR" sz="3200" dirty="0">
                <a:solidFill>
                  <a:schemeClr val="bg1"/>
                </a:solidFill>
              </a:rPr>
              <a:t> </a:t>
            </a:r>
            <a:r>
              <a:rPr lang="en-US" sz="3000" spc="-89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flexible )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3679607D-BA28-E056-98E8-FCA8B044DFAC}"/>
              </a:ext>
            </a:extLst>
          </p:cNvPr>
          <p:cNvCxnSpPr>
            <a:cxnSpLocks/>
          </p:cNvCxnSpPr>
          <p:nvPr/>
        </p:nvCxnSpPr>
        <p:spPr>
          <a:xfrm>
            <a:off x="6248400" y="3771900"/>
            <a:ext cx="0" cy="368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A1F8C30-1F65-6B9F-007F-FCE02D491078}"/>
              </a:ext>
            </a:extLst>
          </p:cNvPr>
          <p:cNvCxnSpPr>
            <a:cxnSpLocks/>
          </p:cNvCxnSpPr>
          <p:nvPr/>
        </p:nvCxnSpPr>
        <p:spPr>
          <a:xfrm>
            <a:off x="10744200" y="3771900"/>
            <a:ext cx="0" cy="368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666F9B13-4195-FF91-DD87-D7E047F2AE1D}"/>
              </a:ext>
            </a:extLst>
          </p:cNvPr>
          <p:cNvSpPr txBox="1"/>
          <p:nvPr/>
        </p:nvSpPr>
        <p:spPr>
          <a:xfrm>
            <a:off x="4572000" y="4962521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BC7710F-A333-8A0B-3E3B-EF1B85DC6B39}"/>
              </a:ext>
            </a:extLst>
          </p:cNvPr>
          <p:cNvSpPr txBox="1"/>
          <p:nvPr/>
        </p:nvSpPr>
        <p:spPr>
          <a:xfrm>
            <a:off x="3400972" y="5331853"/>
            <a:ext cx="22277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0" i="0" dirty="0">
                <a:solidFill>
                  <a:schemeClr val="bg1"/>
                </a:solidFill>
                <a:effectLst/>
                <a:latin typeface="Alice" panose="020B0604020202020204" charset="0"/>
              </a:rPr>
              <a:t>Complexité</a:t>
            </a:r>
            <a:endParaRPr lang="fr-FR" sz="3000" dirty="0">
              <a:solidFill>
                <a:schemeClr val="bg1"/>
              </a:solidFill>
              <a:latin typeface="Alice" panose="020B060402020202020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D96F68CC-9BB3-4C98-3AA7-9F174A6AD4C9}"/>
              </a:ext>
            </a:extLst>
          </p:cNvPr>
          <p:cNvSpPr txBox="1"/>
          <p:nvPr/>
        </p:nvSpPr>
        <p:spPr>
          <a:xfrm>
            <a:off x="2705098" y="6068847"/>
            <a:ext cx="37337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0" i="0" dirty="0">
                <a:solidFill>
                  <a:schemeClr val="bg1"/>
                </a:solidFill>
                <a:effectLst/>
                <a:latin typeface="Alice" panose="020B0604020202020204" charset="0"/>
              </a:rPr>
              <a:t>Volume de Données</a:t>
            </a:r>
            <a:endParaRPr lang="fr-FR" sz="3000" dirty="0">
              <a:solidFill>
                <a:schemeClr val="bg1"/>
              </a:solidFill>
              <a:latin typeface="Alice" panose="020B060402020202020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1D9E266-5071-4917-7747-B1AF311EC7DA}"/>
              </a:ext>
            </a:extLst>
          </p:cNvPr>
          <p:cNvSpPr txBox="1"/>
          <p:nvPr/>
        </p:nvSpPr>
        <p:spPr>
          <a:xfrm>
            <a:off x="11087098" y="4605949"/>
            <a:ext cx="40767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0" i="0" dirty="0">
                <a:solidFill>
                  <a:schemeClr val="bg1"/>
                </a:solidFill>
                <a:effectLst/>
                <a:latin typeface="Alice" panose="020B0604020202020204" charset="0"/>
              </a:rPr>
              <a:t>Courbe ( Non-linéaire )</a:t>
            </a:r>
            <a:endParaRPr lang="fr-FR" sz="3000" dirty="0">
              <a:solidFill>
                <a:schemeClr val="bg1"/>
              </a:solidFill>
              <a:latin typeface="Alice" panose="020B060402020202020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1AE7B8A-80BB-7025-0958-C972AA5C445A}"/>
              </a:ext>
            </a:extLst>
          </p:cNvPr>
          <p:cNvSpPr txBox="1"/>
          <p:nvPr/>
        </p:nvSpPr>
        <p:spPr>
          <a:xfrm>
            <a:off x="11920813" y="6748502"/>
            <a:ext cx="24092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>
                <a:solidFill>
                  <a:schemeClr val="bg1"/>
                </a:solidFill>
                <a:latin typeface="Alice" panose="020B0604020202020204" charset="0"/>
              </a:rPr>
              <a:t>Risque </a:t>
            </a:r>
            <a:r>
              <a:rPr lang="fr-FR" sz="3000" b="0" i="0" dirty="0" err="1">
                <a:solidFill>
                  <a:schemeClr val="bg1"/>
                </a:solidFill>
                <a:effectLst/>
                <a:latin typeface="Alice" panose="020B0604020202020204" charset="0"/>
              </a:rPr>
              <a:t>éleve</a:t>
            </a:r>
            <a:endParaRPr lang="fr-FR" sz="3000" dirty="0">
              <a:solidFill>
                <a:schemeClr val="bg1"/>
              </a:solidFill>
              <a:latin typeface="Alice" panose="020B060402020202020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E361D7A-1507-8CAE-0DF2-25EE8124E72A}"/>
              </a:ext>
            </a:extLst>
          </p:cNvPr>
          <p:cNvSpPr txBox="1"/>
          <p:nvPr/>
        </p:nvSpPr>
        <p:spPr>
          <a:xfrm>
            <a:off x="10694969" y="6061984"/>
            <a:ext cx="49619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>
                <a:solidFill>
                  <a:schemeClr val="bg1"/>
                </a:solidFill>
                <a:latin typeface="Alice" panose="020B0604020202020204" charset="0"/>
              </a:rPr>
              <a:t>N</a:t>
            </a:r>
            <a:r>
              <a:rPr lang="fr-FR" sz="3000" b="0" i="0" dirty="0">
                <a:solidFill>
                  <a:schemeClr val="bg1"/>
                </a:solidFill>
                <a:effectLst/>
                <a:latin typeface="Alice" panose="020B0604020202020204" charset="0"/>
              </a:rPr>
              <a:t>écessite beaucoup de data</a:t>
            </a:r>
            <a:endParaRPr lang="fr-FR" sz="3000" dirty="0">
              <a:solidFill>
                <a:schemeClr val="bg1"/>
              </a:solidFill>
              <a:latin typeface="Alice" panose="020B060402020202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2145" y="4590844"/>
            <a:ext cx="16183710" cy="109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1"/>
              </a:lnSpc>
            </a:pPr>
            <a:r>
              <a:rPr lang="en-US" sz="7141">
                <a:solidFill>
                  <a:srgbClr val="38B6FF"/>
                </a:solidFill>
                <a:latin typeface="Bugaki"/>
                <a:ea typeface="Bugaki"/>
                <a:cs typeface="Bugaki"/>
                <a:sym typeface="Bugaki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677</Words>
  <Application>Microsoft Office PowerPoint</Application>
  <PresentationFormat>Personnalisé</PresentationFormat>
  <Paragraphs>101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30" baseType="lpstr">
      <vt:lpstr>Bicubik</vt:lpstr>
      <vt:lpstr>Calibri</vt:lpstr>
      <vt:lpstr>Bugaki</vt:lpstr>
      <vt:lpstr>Alice</vt:lpstr>
      <vt:lpstr>Arial</vt:lpstr>
      <vt:lpstr>Belleza</vt:lpstr>
      <vt:lpstr>Amiri</vt:lpstr>
      <vt:lpstr>Telegraf Bold</vt:lpstr>
      <vt:lpstr>Alice Bold</vt:lpstr>
      <vt:lpstr>Telegraf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Futuristic Human vs Machine Presentation</dc:title>
  <dc:creator>Dell</dc:creator>
  <cp:lastModifiedBy>Raouia Ben Ajiba</cp:lastModifiedBy>
  <cp:revision>2</cp:revision>
  <dcterms:created xsi:type="dcterms:W3CDTF">2006-08-16T00:00:00Z</dcterms:created>
  <dcterms:modified xsi:type="dcterms:W3CDTF">2026-05-14T17:38:22Z</dcterms:modified>
  <dc:identifier>DAHIQBdfFfc</dc:identifier>
</cp:coreProperties>
</file>